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Roboto"/>
      <p:regular r:id="rId23"/>
      <p:bold r:id="rId24"/>
      <p:italic r:id="rId25"/>
      <p:boldItalic r:id="rId26"/>
    </p:embeddedFont>
    <p:embeddedFont>
      <p:font typeface="Comfortaa"/>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6" name="Baylor Fox-Kemper"/>
  <p:cmAuthor clrIdx="1" id="1" initials="" lastIdx="1" name="Anna Piran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Comfortaa-bold.fntdata"/><Relationship Id="rId27" Type="http://schemas.openxmlformats.org/officeDocument/2006/relationships/font" Target="fonts/Comfortaa-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12-16T18:41:11.041">
    <p:pos x="66" y="542"/>
    <p:text>This is Bruce Calvert's Temp-only combination.  It isn't really a climate state estimate, it's an annual-mean GMST estimate.</p:text>
  </p:cm>
  <p:cm authorId="0" idx="2" dt="2024-12-16T18:41:11.041">
    <p:pos x="66" y="542"/>
    <p:text>This is a placeholder for something else.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4-12-16T18:40:48.473">
    <p:pos x="482" y="353"/>
    <p:text>I put the Forster Supplement figure here as a placeholder, but I think it's a bit too complicated.
It should not show any observations, I think, just attributed warming.
I do like that the baseline here is explicit.</p:text>
  </p:cm>
  <p:cm authorId="0" idx="4" dt="2024-12-16T18:40:48.473">
    <p:pos x="482" y="353"/>
    <p:text>I also think we need very consistent visualization from the observed warming page.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4-12-16T18:41:56.736">
    <p:pos x="1256" y="40"/>
    <p:text>This is an example of what you'd find by clicking through on one of the thumbnails....</p:text>
  </p:cm>
  <p:cm authorId="0" idx="6" dt="2025-01-08T15:22:34.855">
    <p:pos x="1302" y="1945"/>
    <p:text>For each separate estimator, the pressure gauges could be recalculated with just that dataset.</p:text>
  </p:cm>
  <p:cm authorId="1" idx="1" dt="2025-01-08T15:22:34.855">
    <p:pos x="1302" y="1945"/>
    <p:text>can the gaugue be turned upside down so the closer to certainty is at the top? I find it is downplayed by being in this position.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1fb6a5745d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1fb6a5745d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27a0f3f5b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27a0f3f5b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27a0f3f5b7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27a0f3f5b7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7019871e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7019871e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1fb6a574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1fb6a574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1fb6a5745d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1fb6a5745d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1fb6a5745d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1fb6a5745d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1fb6a5745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1fb6a5745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1fb6a5745d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1fb6a5745d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229033b3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229033b3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1fd3c9019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1fd3c9019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1fb6a5745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1fb6a5745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1fb6a5745d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1fb6a5745d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1fb6a5745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1fb6a5745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1fb6a5745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1fb6a5745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2.png"/><Relationship Id="rId7"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22.png"/><Relationship Id="rId13" Type="http://schemas.openxmlformats.org/officeDocument/2006/relationships/image" Target="../media/image12.png"/><Relationship Id="rId12" Type="http://schemas.openxmlformats.org/officeDocument/2006/relationships/image" Target="../media/image10.jpg"/><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1.xml"/><Relationship Id="rId4" Type="http://schemas.openxmlformats.org/officeDocument/2006/relationships/image" Target="../media/image9.png"/><Relationship Id="rId9" Type="http://schemas.openxmlformats.org/officeDocument/2006/relationships/image" Target="../media/image7.png"/><Relationship Id="rId5" Type="http://schemas.openxmlformats.org/officeDocument/2006/relationships/image" Target="../media/image18.png"/><Relationship Id="rId6" Type="http://schemas.openxmlformats.org/officeDocument/2006/relationships/image" Target="../media/image11.png"/><Relationship Id="rId7" Type="http://schemas.openxmlformats.org/officeDocument/2006/relationships/image" Target="../media/image21.png"/><Relationship Id="rId8" Type="http://schemas.openxmlformats.org/officeDocument/2006/relationships/image" Target="../media/image17.png"/></Relationships>
</file>

<file path=ppt/slides/_rels/slide8.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12.png"/><Relationship Id="rId13" Type="http://schemas.openxmlformats.org/officeDocument/2006/relationships/image" Target="../media/image23.png"/><Relationship Id="rId12" Type="http://schemas.openxmlformats.org/officeDocument/2006/relationships/image" Target="../media/image2.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omments" Target="../comments/comment2.xml"/><Relationship Id="rId4" Type="http://schemas.openxmlformats.org/officeDocument/2006/relationships/image" Target="../media/image18.png"/><Relationship Id="rId9"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21.png"/><Relationship Id="rId7" Type="http://schemas.openxmlformats.org/officeDocument/2006/relationships/image" Target="../media/image17.png"/><Relationship Id="rId8" Type="http://schemas.openxmlformats.org/officeDocument/2006/relationships/image" Target="../media/image10.jpg"/></Relationships>
</file>

<file path=ppt/slides/_rels/slide9.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19.png"/><Relationship Id="rId12" Type="http://schemas.openxmlformats.org/officeDocument/2006/relationships/image" Target="../media/image11.png"/><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3.xml"/><Relationship Id="rId4" Type="http://schemas.openxmlformats.org/officeDocument/2006/relationships/image" Target="../media/image18.png"/><Relationship Id="rId9" Type="http://schemas.openxmlformats.org/officeDocument/2006/relationships/image" Target="../media/image16.png"/><Relationship Id="rId5" Type="http://schemas.openxmlformats.org/officeDocument/2006/relationships/image" Target="../media/image21.png"/><Relationship Id="rId6" Type="http://schemas.openxmlformats.org/officeDocument/2006/relationships/image" Target="../media/image17.png"/><Relationship Id="rId7" Type="http://schemas.openxmlformats.org/officeDocument/2006/relationships/image" Target="../media/image22.png"/><Relationship Id="rId8" Type="http://schemas.openxmlformats.org/officeDocument/2006/relationships/hyperlink" Target="http://dx.doi.org/10.1175/JCLI-D-23-0580.1"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Brainstorming for a Climate State (mostly temperature) Dashboard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62500"/>
          </a:bodyPr>
          <a:lstStyle/>
          <a:p>
            <a:pPr indent="0" lvl="0" marL="0" rtl="0" algn="ctr">
              <a:spcBef>
                <a:spcPts val="0"/>
              </a:spcBef>
              <a:spcAft>
                <a:spcPts val="0"/>
              </a:spcAft>
              <a:buNone/>
            </a:pPr>
            <a:r>
              <a:rPr lang="en"/>
              <a:t>Baylor Fox-Kemper, Richard Betts, Samantha Burgess, Ed Hawkins, Zeke Hausfather, John Kennedy, Colin Morice, John Nicklas, Anna Pirani, Robert Rohde</a:t>
            </a:r>
            <a:endParaRPr/>
          </a:p>
        </p:txBody>
      </p:sp>
      <p:sp>
        <p:nvSpPr>
          <p:cNvPr id="56" name="Google Shape;56;p13"/>
          <p:cNvSpPr txBox="1"/>
          <p:nvPr/>
        </p:nvSpPr>
        <p:spPr>
          <a:xfrm>
            <a:off x="1800300" y="4319375"/>
            <a:ext cx="703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First, let’s see what C3S has on their dashboard!</a:t>
            </a:r>
            <a:endParaRPr sz="180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idx="1" type="body"/>
          </p:nvPr>
        </p:nvSpPr>
        <p:spPr>
          <a:xfrm>
            <a:off x="3659650" y="973675"/>
            <a:ext cx="5172600" cy="15825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b="1" lang="en"/>
              <a:t>Current</a:t>
            </a:r>
            <a:r>
              <a:rPr b="1" lang="en"/>
              <a:t> (2024) global warming </a:t>
            </a:r>
            <a:r>
              <a:rPr b="1" lang="en">
                <a:solidFill>
                  <a:srgbClr val="6FA8DC"/>
                </a:solidFill>
              </a:rPr>
              <a:t>level</a:t>
            </a:r>
            <a:r>
              <a:rPr b="1" lang="en"/>
              <a:t>: </a:t>
            </a:r>
            <a:endParaRPr b="1"/>
          </a:p>
          <a:p>
            <a:pPr indent="0" lvl="0" marL="0" rtl="0" algn="l">
              <a:lnSpc>
                <a:spcPct val="100000"/>
              </a:lnSpc>
              <a:spcBef>
                <a:spcPts val="0"/>
              </a:spcBef>
              <a:spcAft>
                <a:spcPts val="0"/>
              </a:spcAft>
              <a:buNone/>
            </a:pPr>
            <a:r>
              <a:rPr lang="en"/>
              <a:t>1.3</a:t>
            </a:r>
            <a:r>
              <a:rPr lang="en"/>
              <a:t> </a:t>
            </a:r>
            <a:r>
              <a:rPr lang="en" sz="1500">
                <a:solidFill>
                  <a:srgbClr val="040C28"/>
                </a:solidFill>
                <a:highlight>
                  <a:srgbClr val="FFFFFF"/>
                </a:highlight>
              </a:rPr>
              <a:t>°</a:t>
            </a:r>
            <a:r>
              <a:rPr lang="en"/>
              <a:t>C</a:t>
            </a:r>
            <a:r>
              <a:rPr lang="en"/>
              <a:t> [1.2 - 1.4, 95% uncertainty range]</a:t>
            </a:r>
            <a:endParaRPr/>
          </a:p>
          <a:p>
            <a:pPr indent="0" lvl="0" marL="0" rtl="0" algn="l">
              <a:lnSpc>
                <a:spcPct val="100000"/>
              </a:lnSpc>
              <a:spcBef>
                <a:spcPts val="0"/>
              </a:spcBef>
              <a:spcAft>
                <a:spcPts val="0"/>
              </a:spcAft>
              <a:buNone/>
            </a:pPr>
            <a:r>
              <a:t/>
            </a:r>
            <a:endParaRPr/>
          </a:p>
          <a:p>
            <a:pPr indent="0" lvl="0" marL="0" rtl="0" algn="l">
              <a:spcBef>
                <a:spcPts val="0"/>
              </a:spcBef>
              <a:spcAft>
                <a:spcPts val="0"/>
              </a:spcAft>
              <a:buClr>
                <a:schemeClr val="dk1"/>
              </a:buClr>
              <a:buSzPct val="61111"/>
              <a:buFont typeface="Arial"/>
              <a:buNone/>
            </a:pPr>
            <a:r>
              <a:rPr b="1" lang="en"/>
              <a:t>Current (2024) global warming </a:t>
            </a:r>
            <a:r>
              <a:rPr b="1" lang="en">
                <a:solidFill>
                  <a:srgbClr val="0000FF"/>
                </a:solidFill>
              </a:rPr>
              <a:t>rate</a:t>
            </a:r>
            <a:r>
              <a:rPr b="1" lang="en"/>
              <a:t>:</a:t>
            </a:r>
            <a:endParaRPr b="1"/>
          </a:p>
          <a:p>
            <a:pPr indent="0" lvl="0" marL="0" rtl="0" algn="l">
              <a:lnSpc>
                <a:spcPct val="100000"/>
              </a:lnSpc>
              <a:spcBef>
                <a:spcPts val="0"/>
              </a:spcBef>
              <a:spcAft>
                <a:spcPts val="0"/>
              </a:spcAft>
              <a:buClr>
                <a:schemeClr val="dk1"/>
              </a:buClr>
              <a:buSzPct val="61111"/>
              <a:buFont typeface="Arial"/>
              <a:buNone/>
            </a:pPr>
            <a:r>
              <a:rPr lang="en"/>
              <a:t>0.2983 ± 0.0640 </a:t>
            </a:r>
            <a:r>
              <a:rPr lang="en" sz="1500">
                <a:solidFill>
                  <a:srgbClr val="040C28"/>
                </a:solidFill>
                <a:highlight>
                  <a:schemeClr val="lt1"/>
                </a:highlight>
              </a:rPr>
              <a:t>°</a:t>
            </a:r>
            <a:r>
              <a:rPr lang="en"/>
              <a:t>C/decade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It</a:t>
            </a:r>
            <a:r>
              <a:rPr lang="en"/>
              <a:t> is </a:t>
            </a:r>
            <a:r>
              <a:rPr i="1" lang="en"/>
              <a:t>exceptionally unlikely</a:t>
            </a:r>
            <a:r>
              <a:rPr lang="en"/>
              <a:t> that global warming has exceeded 1.5</a:t>
            </a:r>
            <a:r>
              <a:rPr lang="en" sz="1500">
                <a:solidFill>
                  <a:srgbClr val="040C28"/>
                </a:solidFill>
                <a:highlight>
                  <a:srgbClr val="FFFFFF"/>
                </a:highlight>
              </a:rPr>
              <a:t>°</a:t>
            </a:r>
            <a:r>
              <a:rPr lang="en"/>
              <a:t>C</a:t>
            </a:r>
            <a:endParaRPr/>
          </a:p>
        </p:txBody>
      </p:sp>
      <p:pic>
        <p:nvPicPr>
          <p:cNvPr id="62" name="Google Shape;62;p14"/>
          <p:cNvPicPr preferRelativeResize="0"/>
          <p:nvPr/>
        </p:nvPicPr>
        <p:blipFill>
          <a:blip r:embed="rId3">
            <a:alphaModFix/>
          </a:blip>
          <a:stretch>
            <a:fillRect/>
          </a:stretch>
        </p:blipFill>
        <p:spPr>
          <a:xfrm>
            <a:off x="311700" y="973675"/>
            <a:ext cx="3209825" cy="3812900"/>
          </a:xfrm>
          <a:prstGeom prst="rect">
            <a:avLst/>
          </a:prstGeom>
          <a:noFill/>
          <a:ln>
            <a:noFill/>
          </a:ln>
        </p:spPr>
      </p:pic>
      <p:sp>
        <p:nvSpPr>
          <p:cNvPr id="63" name="Google Shape;63;p14"/>
          <p:cNvSpPr txBox="1"/>
          <p:nvPr/>
        </p:nvSpPr>
        <p:spPr>
          <a:xfrm>
            <a:off x="311700" y="4710375"/>
            <a:ext cx="3580500" cy="32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dk2"/>
                </a:solidFill>
              </a:rPr>
              <a:t>Download data</a:t>
            </a:r>
            <a:r>
              <a:rPr lang="en" sz="1100">
                <a:solidFill>
                  <a:schemeClr val="dk2"/>
                </a:solidFill>
              </a:rPr>
              <a:t> - </a:t>
            </a:r>
            <a:r>
              <a:rPr lang="en" sz="1100" u="sng">
                <a:solidFill>
                  <a:schemeClr val="dk2"/>
                </a:solidFill>
              </a:rPr>
              <a:t>Explore lines of evidence</a:t>
            </a:r>
            <a:endParaRPr sz="1100" u="sng">
              <a:solidFill>
                <a:schemeClr val="dk2"/>
              </a:solidFill>
            </a:endParaRPr>
          </a:p>
        </p:txBody>
      </p:sp>
      <p:pic>
        <p:nvPicPr>
          <p:cNvPr id="64" name="Google Shape;64;p14"/>
          <p:cNvPicPr preferRelativeResize="0"/>
          <p:nvPr/>
        </p:nvPicPr>
        <p:blipFill rotWithShape="1">
          <a:blip r:embed="rId4">
            <a:alphaModFix/>
          </a:blip>
          <a:srcRect b="31950" l="0" r="30738" t="0"/>
          <a:stretch/>
        </p:blipFill>
        <p:spPr>
          <a:xfrm>
            <a:off x="3892200" y="2447925"/>
            <a:ext cx="4231723" cy="2338651"/>
          </a:xfrm>
          <a:prstGeom prst="rect">
            <a:avLst/>
          </a:prstGeom>
          <a:noFill/>
          <a:ln>
            <a:noFill/>
          </a:ln>
        </p:spPr>
      </p:pic>
      <p:cxnSp>
        <p:nvCxnSpPr>
          <p:cNvPr id="65" name="Google Shape;65;p14"/>
          <p:cNvCxnSpPr/>
          <p:nvPr/>
        </p:nvCxnSpPr>
        <p:spPr>
          <a:xfrm flipH="1">
            <a:off x="1923550" y="3540500"/>
            <a:ext cx="264900" cy="271800"/>
          </a:xfrm>
          <a:prstGeom prst="straightConnector1">
            <a:avLst/>
          </a:prstGeom>
          <a:noFill/>
          <a:ln cap="flat" cmpd="sng" w="38100">
            <a:solidFill>
              <a:srgbClr val="0000FF"/>
            </a:solidFill>
            <a:prstDash val="solid"/>
            <a:round/>
            <a:headEnd len="med" w="med" type="none"/>
            <a:tailEnd len="med" w="med" type="none"/>
          </a:ln>
        </p:spPr>
      </p:cxnSp>
      <p:cxnSp>
        <p:nvCxnSpPr>
          <p:cNvPr id="66" name="Google Shape;66;p14"/>
          <p:cNvCxnSpPr/>
          <p:nvPr/>
        </p:nvCxnSpPr>
        <p:spPr>
          <a:xfrm flipH="1">
            <a:off x="2725100" y="2369550"/>
            <a:ext cx="271800" cy="404400"/>
          </a:xfrm>
          <a:prstGeom prst="straightConnector1">
            <a:avLst/>
          </a:prstGeom>
          <a:noFill/>
          <a:ln cap="flat" cmpd="sng" w="38100">
            <a:solidFill>
              <a:srgbClr val="0000FF"/>
            </a:solidFill>
            <a:prstDash val="solid"/>
            <a:round/>
            <a:headEnd len="med" w="med" type="none"/>
            <a:tailEnd len="med" w="med" type="none"/>
          </a:ln>
        </p:spPr>
      </p:cxnSp>
      <p:sp>
        <p:nvSpPr>
          <p:cNvPr id="67" name="Google Shape;67;p14"/>
          <p:cNvSpPr txBox="1"/>
          <p:nvPr/>
        </p:nvSpPr>
        <p:spPr>
          <a:xfrm>
            <a:off x="2940425" y="2113625"/>
            <a:ext cx="6906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0000FF"/>
                </a:solidFill>
              </a:rPr>
              <a:t>0.2090 ± 0.0292 </a:t>
            </a:r>
            <a:endParaRPr sz="800">
              <a:solidFill>
                <a:srgbClr val="0000FF"/>
              </a:solidFill>
            </a:endParaRPr>
          </a:p>
          <a:p>
            <a:pPr indent="0" lvl="0" marL="0" rtl="0" algn="ctr">
              <a:spcBef>
                <a:spcPts val="0"/>
              </a:spcBef>
              <a:spcAft>
                <a:spcPts val="0"/>
              </a:spcAft>
              <a:buNone/>
            </a:pPr>
            <a:r>
              <a:rPr lang="en" sz="800">
                <a:solidFill>
                  <a:srgbClr val="0000FF"/>
                </a:solidFill>
                <a:highlight>
                  <a:schemeClr val="lt1"/>
                </a:highlight>
              </a:rPr>
              <a:t>°</a:t>
            </a:r>
            <a:r>
              <a:rPr lang="en" sz="800">
                <a:solidFill>
                  <a:srgbClr val="0000FF"/>
                </a:solidFill>
              </a:rPr>
              <a:t>C/decade</a:t>
            </a:r>
            <a:endParaRPr sz="800">
              <a:solidFill>
                <a:srgbClr val="0000FF"/>
              </a:solidFill>
            </a:endParaRPr>
          </a:p>
        </p:txBody>
      </p:sp>
      <p:sp>
        <p:nvSpPr>
          <p:cNvPr id="68" name="Google Shape;68;p14"/>
          <p:cNvSpPr txBox="1"/>
          <p:nvPr/>
        </p:nvSpPr>
        <p:spPr>
          <a:xfrm>
            <a:off x="1321750" y="3204700"/>
            <a:ext cx="6906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0000FF"/>
                </a:solidFill>
              </a:rPr>
              <a:t> 0.1516 ± 0.0246</a:t>
            </a:r>
            <a:r>
              <a:rPr lang="en" sz="800">
                <a:solidFill>
                  <a:srgbClr val="0000FF"/>
                </a:solidFill>
              </a:rPr>
              <a:t> </a:t>
            </a:r>
            <a:endParaRPr sz="800">
              <a:solidFill>
                <a:srgbClr val="0000FF"/>
              </a:solidFill>
            </a:endParaRPr>
          </a:p>
          <a:p>
            <a:pPr indent="0" lvl="0" marL="0" rtl="0" algn="ctr">
              <a:spcBef>
                <a:spcPts val="0"/>
              </a:spcBef>
              <a:spcAft>
                <a:spcPts val="0"/>
              </a:spcAft>
              <a:buNone/>
            </a:pPr>
            <a:r>
              <a:rPr lang="en" sz="800">
                <a:solidFill>
                  <a:srgbClr val="0000FF"/>
                </a:solidFill>
                <a:highlight>
                  <a:schemeClr val="lt1"/>
                </a:highlight>
              </a:rPr>
              <a:t>°</a:t>
            </a:r>
            <a:r>
              <a:rPr lang="en" sz="800">
                <a:solidFill>
                  <a:srgbClr val="0000FF"/>
                </a:solidFill>
              </a:rPr>
              <a:t>C/decade</a:t>
            </a:r>
            <a:endParaRPr sz="800">
              <a:solidFill>
                <a:srgbClr val="0000FF"/>
              </a:solidFill>
            </a:endParaRPr>
          </a:p>
        </p:txBody>
      </p:sp>
      <p:sp>
        <p:nvSpPr>
          <p:cNvPr id="69" name="Google Shape;69;p14"/>
          <p:cNvSpPr/>
          <p:nvPr/>
        </p:nvSpPr>
        <p:spPr>
          <a:xfrm>
            <a:off x="962025" y="157175"/>
            <a:ext cx="1519200" cy="30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14"/>
          <p:cNvSpPr txBox="1"/>
          <p:nvPr/>
        </p:nvSpPr>
        <p:spPr>
          <a:xfrm>
            <a:off x="1155800" y="64475"/>
            <a:ext cx="43338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900">
                <a:solidFill>
                  <a:schemeClr val="dk2"/>
                </a:solidFill>
              </a:rPr>
              <a:t> Realized </a:t>
            </a:r>
            <a:r>
              <a:rPr b="1" lang="en" sz="1900">
                <a:solidFill>
                  <a:schemeClr val="dk2"/>
                </a:solidFill>
              </a:rPr>
              <a:t>  Climate </a:t>
            </a:r>
            <a:r>
              <a:rPr b="1" lang="en" sz="1900">
                <a:solidFill>
                  <a:schemeClr val="dk2"/>
                </a:solidFill>
              </a:rPr>
              <a:t>System</a:t>
            </a:r>
            <a:r>
              <a:rPr b="1" lang="en" sz="1900">
                <a:solidFill>
                  <a:schemeClr val="dk2"/>
                </a:solidFill>
              </a:rPr>
              <a:t> Warming</a:t>
            </a:r>
            <a:endParaRPr b="1" sz="1900">
              <a:solidFill>
                <a:schemeClr val="dk2"/>
              </a:solidFill>
            </a:endParaRPr>
          </a:p>
        </p:txBody>
      </p:sp>
      <p:pic>
        <p:nvPicPr>
          <p:cNvPr id="71" name="Google Shape;71;p14"/>
          <p:cNvPicPr preferRelativeResize="0"/>
          <p:nvPr/>
        </p:nvPicPr>
        <p:blipFill>
          <a:blip r:embed="rId5">
            <a:alphaModFix/>
          </a:blip>
          <a:stretch>
            <a:fillRect/>
          </a:stretch>
        </p:blipFill>
        <p:spPr>
          <a:xfrm>
            <a:off x="983850" y="227694"/>
            <a:ext cx="244900" cy="185005"/>
          </a:xfrm>
          <a:prstGeom prst="rect">
            <a:avLst/>
          </a:prstGeom>
          <a:noFill/>
          <a:ln>
            <a:noFill/>
          </a:ln>
        </p:spPr>
      </p:pic>
      <p:sp>
        <p:nvSpPr>
          <p:cNvPr id="72" name="Google Shape;72;p14"/>
          <p:cNvSpPr/>
          <p:nvPr/>
        </p:nvSpPr>
        <p:spPr>
          <a:xfrm>
            <a:off x="6144250" y="305375"/>
            <a:ext cx="2154600" cy="30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3" name="Google Shape;73;p14"/>
          <p:cNvPicPr preferRelativeResize="0"/>
          <p:nvPr/>
        </p:nvPicPr>
        <p:blipFill>
          <a:blip r:embed="rId5">
            <a:alphaModFix/>
          </a:blip>
          <a:stretch>
            <a:fillRect/>
          </a:stretch>
        </p:blipFill>
        <p:spPr>
          <a:xfrm>
            <a:off x="6144262" y="362869"/>
            <a:ext cx="303941" cy="185005"/>
          </a:xfrm>
          <a:prstGeom prst="rect">
            <a:avLst/>
          </a:prstGeom>
          <a:noFill/>
          <a:ln>
            <a:noFill/>
          </a:ln>
        </p:spPr>
      </p:pic>
      <p:sp>
        <p:nvSpPr>
          <p:cNvPr id="74" name="Google Shape;74;p14"/>
          <p:cNvSpPr txBox="1"/>
          <p:nvPr/>
        </p:nvSpPr>
        <p:spPr>
          <a:xfrm>
            <a:off x="6441850" y="247625"/>
            <a:ext cx="5973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rPr>
              <a:t>Lines of evidence</a:t>
            </a:r>
            <a:endParaRPr sz="100">
              <a:solidFill>
                <a:schemeClr val="dk1"/>
              </a:solidFill>
            </a:endParaRPr>
          </a:p>
        </p:txBody>
      </p:sp>
      <p:sp>
        <p:nvSpPr>
          <p:cNvPr id="75" name="Google Shape;75;p14"/>
          <p:cNvSpPr/>
          <p:nvPr/>
        </p:nvSpPr>
        <p:spPr>
          <a:xfrm>
            <a:off x="2690100" y="1721450"/>
            <a:ext cx="368100" cy="140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4"/>
          <p:cNvSpPr txBox="1"/>
          <p:nvPr/>
        </p:nvSpPr>
        <p:spPr>
          <a:xfrm>
            <a:off x="2628350" y="1606850"/>
            <a:ext cx="690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2010</a:t>
            </a:r>
            <a:endParaRPr b="1" sz="1200">
              <a:solidFill>
                <a:schemeClr val="dk2"/>
              </a:solidFill>
            </a:endParaRPr>
          </a:p>
        </p:txBody>
      </p:sp>
      <p:sp>
        <p:nvSpPr>
          <p:cNvPr id="77" name="Google Shape;77;p14"/>
          <p:cNvSpPr/>
          <p:nvPr/>
        </p:nvSpPr>
        <p:spPr>
          <a:xfrm>
            <a:off x="7070225" y="3326950"/>
            <a:ext cx="303900" cy="1095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4"/>
          <p:cNvSpPr txBox="1"/>
          <p:nvPr/>
        </p:nvSpPr>
        <p:spPr>
          <a:xfrm>
            <a:off x="6628575" y="3204700"/>
            <a:ext cx="690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latin typeface="Calibri"/>
                <a:ea typeface="Calibri"/>
                <a:cs typeface="Calibri"/>
                <a:sym typeface="Calibri"/>
              </a:rPr>
              <a:t>2010</a:t>
            </a:r>
            <a:endParaRPr sz="1100">
              <a:solidFill>
                <a:schemeClr val="dk2"/>
              </a:solidFill>
              <a:latin typeface="Calibri"/>
              <a:ea typeface="Calibri"/>
              <a:cs typeface="Calibri"/>
              <a:sym typeface="Calibri"/>
            </a:endParaRPr>
          </a:p>
        </p:txBody>
      </p:sp>
      <p:pic>
        <p:nvPicPr>
          <p:cNvPr id="79" name="Google Shape;79;p14"/>
          <p:cNvPicPr preferRelativeResize="0"/>
          <p:nvPr/>
        </p:nvPicPr>
        <p:blipFill rotWithShape="1">
          <a:blip r:embed="rId4">
            <a:alphaModFix/>
          </a:blip>
          <a:srcRect b="67261" l="47609" r="33761" t="29553"/>
          <a:stretch/>
        </p:blipFill>
        <p:spPr>
          <a:xfrm>
            <a:off x="6448200" y="3460850"/>
            <a:ext cx="1138224" cy="109501"/>
          </a:xfrm>
          <a:prstGeom prst="rect">
            <a:avLst/>
          </a:prstGeom>
          <a:noFill/>
          <a:ln>
            <a:noFill/>
          </a:ln>
        </p:spPr>
      </p:pic>
      <p:sp>
        <p:nvSpPr>
          <p:cNvPr id="80" name="Google Shape;80;p14"/>
          <p:cNvSpPr/>
          <p:nvPr/>
        </p:nvSpPr>
        <p:spPr>
          <a:xfrm>
            <a:off x="1871950" y="1721450"/>
            <a:ext cx="368100" cy="140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4"/>
          <p:cNvSpPr txBox="1"/>
          <p:nvPr/>
        </p:nvSpPr>
        <p:spPr>
          <a:xfrm>
            <a:off x="1799550" y="1606850"/>
            <a:ext cx="604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1984</a:t>
            </a:r>
            <a:endParaRPr/>
          </a:p>
        </p:txBody>
      </p:sp>
      <p:sp>
        <p:nvSpPr>
          <p:cNvPr id="82" name="Google Shape;82;p14"/>
          <p:cNvSpPr/>
          <p:nvPr/>
        </p:nvSpPr>
        <p:spPr>
          <a:xfrm>
            <a:off x="4993775" y="3593650"/>
            <a:ext cx="303900" cy="1095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4"/>
          <p:cNvSpPr txBox="1"/>
          <p:nvPr/>
        </p:nvSpPr>
        <p:spPr>
          <a:xfrm>
            <a:off x="4899825" y="3471400"/>
            <a:ext cx="690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latin typeface="Calibri"/>
                <a:ea typeface="Calibri"/>
                <a:cs typeface="Calibri"/>
                <a:sym typeface="Calibri"/>
              </a:rPr>
              <a:t>1984</a:t>
            </a:r>
            <a:endParaRPr sz="1100">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5"/>
          <p:cNvPicPr preferRelativeResize="0"/>
          <p:nvPr/>
        </p:nvPicPr>
        <p:blipFill>
          <a:blip r:embed="rId3">
            <a:alphaModFix/>
          </a:blip>
          <a:stretch>
            <a:fillRect/>
          </a:stretch>
        </p:blipFill>
        <p:spPr>
          <a:xfrm>
            <a:off x="311700" y="973675"/>
            <a:ext cx="3209825" cy="3812900"/>
          </a:xfrm>
          <a:prstGeom prst="rect">
            <a:avLst/>
          </a:prstGeom>
          <a:noFill/>
          <a:ln>
            <a:noFill/>
          </a:ln>
        </p:spPr>
      </p:pic>
      <p:sp>
        <p:nvSpPr>
          <p:cNvPr id="89" name="Google Shape;89;p15"/>
          <p:cNvSpPr txBox="1"/>
          <p:nvPr/>
        </p:nvSpPr>
        <p:spPr>
          <a:xfrm>
            <a:off x="311700" y="4710375"/>
            <a:ext cx="3580500" cy="32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dk2"/>
                </a:solidFill>
              </a:rPr>
              <a:t>Download data</a:t>
            </a:r>
            <a:r>
              <a:rPr lang="en" sz="1100">
                <a:solidFill>
                  <a:schemeClr val="dk2"/>
                </a:solidFill>
              </a:rPr>
              <a:t> - </a:t>
            </a:r>
            <a:r>
              <a:rPr lang="en" sz="1100" u="sng">
                <a:solidFill>
                  <a:schemeClr val="dk2"/>
                </a:solidFill>
              </a:rPr>
              <a:t>Explore lines of evidence</a:t>
            </a:r>
            <a:endParaRPr sz="1100" u="sng">
              <a:solidFill>
                <a:schemeClr val="dk2"/>
              </a:solidFill>
            </a:endParaRPr>
          </a:p>
        </p:txBody>
      </p:sp>
      <p:pic>
        <p:nvPicPr>
          <p:cNvPr id="90" name="Google Shape;90;p15"/>
          <p:cNvPicPr preferRelativeResize="0"/>
          <p:nvPr/>
        </p:nvPicPr>
        <p:blipFill rotWithShape="1">
          <a:blip r:embed="rId4">
            <a:alphaModFix/>
          </a:blip>
          <a:srcRect b="31950" l="0" r="30738" t="0"/>
          <a:stretch/>
        </p:blipFill>
        <p:spPr>
          <a:xfrm>
            <a:off x="3892200" y="2447925"/>
            <a:ext cx="4231723" cy="2338651"/>
          </a:xfrm>
          <a:prstGeom prst="rect">
            <a:avLst/>
          </a:prstGeom>
          <a:noFill/>
          <a:ln>
            <a:noFill/>
          </a:ln>
        </p:spPr>
      </p:pic>
      <p:cxnSp>
        <p:nvCxnSpPr>
          <p:cNvPr id="91" name="Google Shape;91;p15"/>
          <p:cNvCxnSpPr/>
          <p:nvPr/>
        </p:nvCxnSpPr>
        <p:spPr>
          <a:xfrm flipH="1">
            <a:off x="1923550" y="3540500"/>
            <a:ext cx="264900" cy="271800"/>
          </a:xfrm>
          <a:prstGeom prst="straightConnector1">
            <a:avLst/>
          </a:prstGeom>
          <a:noFill/>
          <a:ln cap="flat" cmpd="sng" w="38100">
            <a:solidFill>
              <a:srgbClr val="0000FF"/>
            </a:solidFill>
            <a:prstDash val="solid"/>
            <a:round/>
            <a:headEnd len="med" w="med" type="none"/>
            <a:tailEnd len="med" w="med" type="none"/>
          </a:ln>
        </p:spPr>
      </p:cxnSp>
      <p:cxnSp>
        <p:nvCxnSpPr>
          <p:cNvPr id="92" name="Google Shape;92;p15"/>
          <p:cNvCxnSpPr/>
          <p:nvPr/>
        </p:nvCxnSpPr>
        <p:spPr>
          <a:xfrm flipH="1">
            <a:off x="2725100" y="2369550"/>
            <a:ext cx="271800" cy="404400"/>
          </a:xfrm>
          <a:prstGeom prst="straightConnector1">
            <a:avLst/>
          </a:prstGeom>
          <a:noFill/>
          <a:ln cap="flat" cmpd="sng" w="38100">
            <a:solidFill>
              <a:srgbClr val="0000FF"/>
            </a:solidFill>
            <a:prstDash val="solid"/>
            <a:round/>
            <a:headEnd len="med" w="med" type="none"/>
            <a:tailEnd len="med" w="med" type="none"/>
          </a:ln>
        </p:spPr>
      </p:cxnSp>
      <p:sp>
        <p:nvSpPr>
          <p:cNvPr id="93" name="Google Shape;93;p15"/>
          <p:cNvSpPr txBox="1"/>
          <p:nvPr/>
        </p:nvSpPr>
        <p:spPr>
          <a:xfrm>
            <a:off x="2969000" y="2399375"/>
            <a:ext cx="690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0000FF"/>
                </a:solidFill>
              </a:rPr>
              <a:t>?? </a:t>
            </a:r>
            <a:endParaRPr sz="800">
              <a:solidFill>
                <a:srgbClr val="0000FF"/>
              </a:solidFill>
            </a:endParaRPr>
          </a:p>
          <a:p>
            <a:pPr indent="0" lvl="0" marL="0" rtl="0" algn="ctr">
              <a:spcBef>
                <a:spcPts val="0"/>
              </a:spcBef>
              <a:spcAft>
                <a:spcPts val="0"/>
              </a:spcAft>
              <a:buNone/>
            </a:pPr>
            <a:r>
              <a:rPr lang="en" sz="800">
                <a:solidFill>
                  <a:srgbClr val="0000FF"/>
                </a:solidFill>
                <a:highlight>
                  <a:schemeClr val="lt1"/>
                </a:highlight>
              </a:rPr>
              <a:t>°</a:t>
            </a:r>
            <a:r>
              <a:rPr lang="en" sz="800">
                <a:solidFill>
                  <a:srgbClr val="0000FF"/>
                </a:solidFill>
              </a:rPr>
              <a:t>C/decade</a:t>
            </a:r>
            <a:endParaRPr sz="800">
              <a:solidFill>
                <a:srgbClr val="0000FF"/>
              </a:solidFill>
            </a:endParaRPr>
          </a:p>
        </p:txBody>
      </p:sp>
      <p:sp>
        <p:nvSpPr>
          <p:cNvPr id="94" name="Google Shape;94;p15"/>
          <p:cNvSpPr txBox="1"/>
          <p:nvPr/>
        </p:nvSpPr>
        <p:spPr>
          <a:xfrm>
            <a:off x="1288425" y="3460850"/>
            <a:ext cx="690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0000FF"/>
                </a:solidFill>
              </a:rPr>
              <a:t>?? </a:t>
            </a:r>
            <a:endParaRPr sz="800">
              <a:solidFill>
                <a:srgbClr val="0000FF"/>
              </a:solidFill>
            </a:endParaRPr>
          </a:p>
          <a:p>
            <a:pPr indent="0" lvl="0" marL="0" rtl="0" algn="ctr">
              <a:spcBef>
                <a:spcPts val="0"/>
              </a:spcBef>
              <a:spcAft>
                <a:spcPts val="0"/>
              </a:spcAft>
              <a:buNone/>
            </a:pPr>
            <a:r>
              <a:rPr lang="en" sz="800">
                <a:solidFill>
                  <a:srgbClr val="0000FF"/>
                </a:solidFill>
                <a:highlight>
                  <a:schemeClr val="lt1"/>
                </a:highlight>
              </a:rPr>
              <a:t>°</a:t>
            </a:r>
            <a:r>
              <a:rPr lang="en" sz="800">
                <a:solidFill>
                  <a:srgbClr val="0000FF"/>
                </a:solidFill>
              </a:rPr>
              <a:t>C/decade</a:t>
            </a:r>
            <a:endParaRPr sz="800">
              <a:solidFill>
                <a:srgbClr val="0000FF"/>
              </a:solidFill>
            </a:endParaRPr>
          </a:p>
        </p:txBody>
      </p:sp>
      <p:sp>
        <p:nvSpPr>
          <p:cNvPr id="95" name="Google Shape;95;p15"/>
          <p:cNvSpPr/>
          <p:nvPr/>
        </p:nvSpPr>
        <p:spPr>
          <a:xfrm>
            <a:off x="1800225" y="157175"/>
            <a:ext cx="1519200" cy="30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5"/>
          <p:cNvSpPr txBox="1"/>
          <p:nvPr/>
        </p:nvSpPr>
        <p:spPr>
          <a:xfrm>
            <a:off x="1994000" y="64475"/>
            <a:ext cx="43830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900">
                <a:solidFill>
                  <a:schemeClr val="dk2"/>
                </a:solidFill>
              </a:rPr>
              <a:t>Attributed  Climate System Warming</a:t>
            </a:r>
            <a:endParaRPr b="1" sz="1900">
              <a:solidFill>
                <a:schemeClr val="dk2"/>
              </a:solidFill>
            </a:endParaRPr>
          </a:p>
        </p:txBody>
      </p:sp>
      <p:pic>
        <p:nvPicPr>
          <p:cNvPr id="97" name="Google Shape;97;p15"/>
          <p:cNvPicPr preferRelativeResize="0"/>
          <p:nvPr/>
        </p:nvPicPr>
        <p:blipFill>
          <a:blip r:embed="rId5">
            <a:alphaModFix/>
          </a:blip>
          <a:stretch>
            <a:fillRect/>
          </a:stretch>
        </p:blipFill>
        <p:spPr>
          <a:xfrm>
            <a:off x="1822050" y="227694"/>
            <a:ext cx="244900" cy="185005"/>
          </a:xfrm>
          <a:prstGeom prst="rect">
            <a:avLst/>
          </a:prstGeom>
          <a:noFill/>
          <a:ln>
            <a:noFill/>
          </a:ln>
        </p:spPr>
      </p:pic>
      <p:sp>
        <p:nvSpPr>
          <p:cNvPr id="98" name="Google Shape;98;p15"/>
          <p:cNvSpPr/>
          <p:nvPr/>
        </p:nvSpPr>
        <p:spPr>
          <a:xfrm>
            <a:off x="6989375" y="170200"/>
            <a:ext cx="2154600" cy="30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9" name="Google Shape;99;p15"/>
          <p:cNvPicPr preferRelativeResize="0"/>
          <p:nvPr/>
        </p:nvPicPr>
        <p:blipFill>
          <a:blip r:embed="rId5">
            <a:alphaModFix/>
          </a:blip>
          <a:stretch>
            <a:fillRect/>
          </a:stretch>
        </p:blipFill>
        <p:spPr>
          <a:xfrm>
            <a:off x="7065587" y="227694"/>
            <a:ext cx="303941" cy="185005"/>
          </a:xfrm>
          <a:prstGeom prst="rect">
            <a:avLst/>
          </a:prstGeom>
          <a:noFill/>
          <a:ln>
            <a:noFill/>
          </a:ln>
        </p:spPr>
      </p:pic>
      <p:sp>
        <p:nvSpPr>
          <p:cNvPr id="100" name="Google Shape;100;p15"/>
          <p:cNvSpPr txBox="1"/>
          <p:nvPr/>
        </p:nvSpPr>
        <p:spPr>
          <a:xfrm>
            <a:off x="7352275" y="95225"/>
            <a:ext cx="5973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rPr>
              <a:t>Lines of evidence</a:t>
            </a:r>
            <a:endParaRPr sz="100">
              <a:solidFill>
                <a:schemeClr val="dk1"/>
              </a:solidFill>
            </a:endParaRPr>
          </a:p>
        </p:txBody>
      </p:sp>
      <p:sp>
        <p:nvSpPr>
          <p:cNvPr id="101" name="Google Shape;101;p15"/>
          <p:cNvSpPr txBox="1"/>
          <p:nvPr>
            <p:ph idx="1" type="body"/>
          </p:nvPr>
        </p:nvSpPr>
        <p:spPr>
          <a:xfrm>
            <a:off x="3659650" y="973675"/>
            <a:ext cx="5172600" cy="15825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b="1" lang="en"/>
              <a:t>Current (2024) attributed global warming </a:t>
            </a:r>
            <a:r>
              <a:rPr b="1" lang="en">
                <a:solidFill>
                  <a:srgbClr val="6FA8DC"/>
                </a:solidFill>
              </a:rPr>
              <a:t>level</a:t>
            </a:r>
            <a:r>
              <a:rPr b="1" lang="en"/>
              <a:t>: </a:t>
            </a:r>
            <a:endParaRPr b="1"/>
          </a:p>
          <a:p>
            <a:pPr indent="0" lvl="0" marL="0" rtl="0" algn="l">
              <a:lnSpc>
                <a:spcPct val="100000"/>
              </a:lnSpc>
              <a:spcBef>
                <a:spcPts val="0"/>
              </a:spcBef>
              <a:spcAft>
                <a:spcPts val="0"/>
              </a:spcAft>
              <a:buNone/>
            </a:pPr>
            <a:r>
              <a:rPr lang="en"/>
              <a:t>1.3 </a:t>
            </a:r>
            <a:r>
              <a:rPr lang="en" sz="1500">
                <a:solidFill>
                  <a:srgbClr val="040C28"/>
                </a:solidFill>
                <a:highlight>
                  <a:srgbClr val="FFFFFF"/>
                </a:highlight>
              </a:rPr>
              <a:t>°</a:t>
            </a:r>
            <a:r>
              <a:rPr lang="en"/>
              <a:t>C [1.2 - 1.4, 95% uncertainty range]</a:t>
            </a:r>
            <a:endParaRPr/>
          </a:p>
          <a:p>
            <a:pPr indent="0" lvl="0" marL="0" rtl="0" algn="l">
              <a:lnSpc>
                <a:spcPct val="100000"/>
              </a:lnSpc>
              <a:spcBef>
                <a:spcPts val="0"/>
              </a:spcBef>
              <a:spcAft>
                <a:spcPts val="0"/>
              </a:spcAft>
              <a:buNone/>
            </a:pPr>
            <a:r>
              <a:t/>
            </a:r>
            <a:endParaRPr/>
          </a:p>
          <a:p>
            <a:pPr indent="0" lvl="0" marL="0" rtl="0" algn="l">
              <a:spcBef>
                <a:spcPts val="0"/>
              </a:spcBef>
              <a:spcAft>
                <a:spcPts val="0"/>
              </a:spcAft>
              <a:buClr>
                <a:schemeClr val="dk1"/>
              </a:buClr>
              <a:buSzPct val="61111"/>
              <a:buFont typeface="Arial"/>
              <a:buNone/>
            </a:pPr>
            <a:r>
              <a:rPr b="1" lang="en"/>
              <a:t>Current (2024) attributed global warming </a:t>
            </a:r>
            <a:r>
              <a:rPr b="1" lang="en">
                <a:solidFill>
                  <a:srgbClr val="0000FF"/>
                </a:solidFill>
              </a:rPr>
              <a:t>rate</a:t>
            </a:r>
            <a:r>
              <a:rPr b="1" lang="en"/>
              <a:t>:</a:t>
            </a:r>
            <a:endParaRPr b="1"/>
          </a:p>
          <a:p>
            <a:pPr indent="0" lvl="0" marL="0" rtl="0" algn="l">
              <a:lnSpc>
                <a:spcPct val="100000"/>
              </a:lnSpc>
              <a:spcBef>
                <a:spcPts val="0"/>
              </a:spcBef>
              <a:spcAft>
                <a:spcPts val="0"/>
              </a:spcAft>
              <a:buClr>
                <a:schemeClr val="dk1"/>
              </a:buClr>
              <a:buSzPct val="61111"/>
              <a:buFont typeface="Arial"/>
              <a:buNone/>
            </a:pPr>
            <a:r>
              <a:rPr lang="en"/>
              <a:t>?? </a:t>
            </a:r>
            <a:r>
              <a:rPr lang="en" sz="1500">
                <a:solidFill>
                  <a:srgbClr val="040C28"/>
                </a:solidFill>
                <a:highlight>
                  <a:schemeClr val="lt1"/>
                </a:highlight>
              </a:rPr>
              <a:t>°</a:t>
            </a:r>
            <a:r>
              <a:rPr lang="en"/>
              <a:t>C/decade [?? - ??, 95% uncertainty range]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It</a:t>
            </a:r>
            <a:r>
              <a:rPr lang="en"/>
              <a:t> is </a:t>
            </a:r>
            <a:r>
              <a:rPr i="1" lang="en"/>
              <a:t>exceptionally unlikely</a:t>
            </a:r>
            <a:r>
              <a:rPr lang="en"/>
              <a:t> that global warming has exceeded 1.5</a:t>
            </a:r>
            <a:r>
              <a:rPr lang="en" sz="1500">
                <a:solidFill>
                  <a:srgbClr val="040C28"/>
                </a:solidFill>
                <a:highlight>
                  <a:srgbClr val="FFFFFF"/>
                </a:highlight>
              </a:rPr>
              <a:t>°</a:t>
            </a:r>
            <a:r>
              <a:rPr lang="en"/>
              <a:t>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16"/>
          <p:cNvPicPr preferRelativeResize="0"/>
          <p:nvPr/>
        </p:nvPicPr>
        <p:blipFill rotWithShape="1">
          <a:blip r:embed="rId3">
            <a:alphaModFix/>
          </a:blip>
          <a:srcRect b="2401" l="0" r="0" t="0"/>
          <a:stretch/>
        </p:blipFill>
        <p:spPr>
          <a:xfrm>
            <a:off x="311713" y="962457"/>
            <a:ext cx="3209825" cy="3721375"/>
          </a:xfrm>
          <a:prstGeom prst="rect">
            <a:avLst/>
          </a:prstGeom>
          <a:noFill/>
          <a:ln>
            <a:noFill/>
          </a:ln>
        </p:spPr>
      </p:pic>
      <p:pic>
        <p:nvPicPr>
          <p:cNvPr id="107" name="Google Shape;107;p16"/>
          <p:cNvPicPr preferRelativeResize="0"/>
          <p:nvPr/>
        </p:nvPicPr>
        <p:blipFill rotWithShape="1">
          <a:blip r:embed="rId4">
            <a:alphaModFix/>
          </a:blip>
          <a:srcRect b="55327" l="60073" r="0" t="0"/>
          <a:stretch/>
        </p:blipFill>
        <p:spPr>
          <a:xfrm>
            <a:off x="876700" y="2001676"/>
            <a:ext cx="2609150" cy="2370025"/>
          </a:xfrm>
          <a:prstGeom prst="rect">
            <a:avLst/>
          </a:prstGeom>
          <a:noFill/>
          <a:ln>
            <a:noFill/>
          </a:ln>
        </p:spPr>
      </p:pic>
      <p:sp>
        <p:nvSpPr>
          <p:cNvPr id="108" name="Google Shape;108;p16"/>
          <p:cNvSpPr/>
          <p:nvPr/>
        </p:nvSpPr>
        <p:spPr>
          <a:xfrm>
            <a:off x="1746750" y="2011444"/>
            <a:ext cx="569400" cy="23388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9" name="Google Shape;109;p16"/>
          <p:cNvSpPr txBox="1"/>
          <p:nvPr/>
        </p:nvSpPr>
        <p:spPr>
          <a:xfrm>
            <a:off x="396900" y="4793543"/>
            <a:ext cx="3580500" cy="32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dk2"/>
                </a:solidFill>
              </a:rPr>
              <a:t>Download data</a:t>
            </a:r>
            <a:r>
              <a:rPr lang="en" sz="1100">
                <a:solidFill>
                  <a:schemeClr val="dk2"/>
                </a:solidFill>
              </a:rPr>
              <a:t> - </a:t>
            </a:r>
            <a:r>
              <a:rPr lang="en" sz="1100" u="sng">
                <a:solidFill>
                  <a:schemeClr val="dk2"/>
                </a:solidFill>
              </a:rPr>
              <a:t>Explore lines of evidence</a:t>
            </a:r>
            <a:endParaRPr sz="1100" u="sng">
              <a:solidFill>
                <a:schemeClr val="dk2"/>
              </a:solidFill>
            </a:endParaRPr>
          </a:p>
        </p:txBody>
      </p:sp>
      <p:pic>
        <p:nvPicPr>
          <p:cNvPr id="110" name="Google Shape;110;p16"/>
          <p:cNvPicPr preferRelativeResize="0"/>
          <p:nvPr/>
        </p:nvPicPr>
        <p:blipFill rotWithShape="1">
          <a:blip r:embed="rId5">
            <a:alphaModFix/>
          </a:blip>
          <a:srcRect b="31950" l="0" r="30738" t="0"/>
          <a:stretch/>
        </p:blipFill>
        <p:spPr>
          <a:xfrm>
            <a:off x="3892200" y="2447925"/>
            <a:ext cx="4231723" cy="2338651"/>
          </a:xfrm>
          <a:prstGeom prst="rect">
            <a:avLst/>
          </a:prstGeom>
          <a:noFill/>
          <a:ln>
            <a:noFill/>
          </a:ln>
        </p:spPr>
      </p:pic>
      <p:cxnSp>
        <p:nvCxnSpPr>
          <p:cNvPr id="111" name="Google Shape;111;p16"/>
          <p:cNvCxnSpPr/>
          <p:nvPr/>
        </p:nvCxnSpPr>
        <p:spPr>
          <a:xfrm flipH="1">
            <a:off x="1753819" y="3322550"/>
            <a:ext cx="565800" cy="240900"/>
          </a:xfrm>
          <a:prstGeom prst="straightConnector1">
            <a:avLst/>
          </a:prstGeom>
          <a:noFill/>
          <a:ln cap="flat" cmpd="sng" w="38100">
            <a:solidFill>
              <a:srgbClr val="0000FF"/>
            </a:solidFill>
            <a:prstDash val="solid"/>
            <a:round/>
            <a:headEnd len="med" w="med" type="none"/>
            <a:tailEnd len="med" w="med" type="none"/>
          </a:ln>
        </p:spPr>
      </p:cxnSp>
      <p:cxnSp>
        <p:nvCxnSpPr>
          <p:cNvPr id="112" name="Google Shape;112;p16"/>
          <p:cNvCxnSpPr>
            <a:endCxn id="113" idx="1"/>
          </p:cNvCxnSpPr>
          <p:nvPr/>
        </p:nvCxnSpPr>
        <p:spPr>
          <a:xfrm flipH="1">
            <a:off x="2560325" y="2896740"/>
            <a:ext cx="519300" cy="284100"/>
          </a:xfrm>
          <a:prstGeom prst="straightConnector1">
            <a:avLst/>
          </a:prstGeom>
          <a:noFill/>
          <a:ln cap="flat" cmpd="sng" w="38100">
            <a:solidFill>
              <a:srgbClr val="0000FF"/>
            </a:solidFill>
            <a:prstDash val="solid"/>
            <a:round/>
            <a:headEnd len="med" w="med" type="none"/>
            <a:tailEnd len="med" w="med" type="none"/>
          </a:ln>
        </p:spPr>
      </p:cxnSp>
      <p:sp>
        <p:nvSpPr>
          <p:cNvPr id="114" name="Google Shape;114;p16"/>
          <p:cNvSpPr txBox="1"/>
          <p:nvPr/>
        </p:nvSpPr>
        <p:spPr>
          <a:xfrm>
            <a:off x="2438518" y="3290316"/>
            <a:ext cx="768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0000FF"/>
                </a:solidFill>
              </a:rPr>
              <a:t>0.236±0.057 </a:t>
            </a:r>
            <a:r>
              <a:rPr lang="en" sz="700">
                <a:solidFill>
                  <a:srgbClr val="0000FF"/>
                </a:solidFill>
              </a:rPr>
              <a:t> </a:t>
            </a:r>
            <a:endParaRPr sz="700">
              <a:solidFill>
                <a:srgbClr val="0000FF"/>
              </a:solidFill>
            </a:endParaRPr>
          </a:p>
          <a:p>
            <a:pPr indent="0" lvl="0" marL="0" rtl="0" algn="ctr">
              <a:spcBef>
                <a:spcPts val="0"/>
              </a:spcBef>
              <a:spcAft>
                <a:spcPts val="0"/>
              </a:spcAft>
              <a:buNone/>
            </a:pPr>
            <a:r>
              <a:rPr lang="en" sz="700">
                <a:solidFill>
                  <a:srgbClr val="0000FF"/>
                </a:solidFill>
              </a:rPr>
              <a:t>°C/decade</a:t>
            </a:r>
            <a:endParaRPr sz="700">
              <a:solidFill>
                <a:srgbClr val="0000FF"/>
              </a:solidFill>
            </a:endParaRPr>
          </a:p>
        </p:txBody>
      </p:sp>
      <p:sp>
        <p:nvSpPr>
          <p:cNvPr id="115" name="Google Shape;115;p16"/>
          <p:cNvSpPr txBox="1"/>
          <p:nvPr/>
        </p:nvSpPr>
        <p:spPr>
          <a:xfrm>
            <a:off x="1647300" y="2657203"/>
            <a:ext cx="768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0000FF"/>
                </a:solidFill>
              </a:rPr>
              <a:t>0.167±0.039</a:t>
            </a:r>
            <a:r>
              <a:rPr lang="en" sz="700">
                <a:solidFill>
                  <a:srgbClr val="0000FF"/>
                </a:solidFill>
              </a:rPr>
              <a:t> </a:t>
            </a:r>
            <a:endParaRPr sz="700">
              <a:solidFill>
                <a:srgbClr val="0000FF"/>
              </a:solidFill>
            </a:endParaRPr>
          </a:p>
          <a:p>
            <a:pPr indent="0" lvl="0" marL="0" rtl="0" algn="ctr">
              <a:spcBef>
                <a:spcPts val="0"/>
              </a:spcBef>
              <a:spcAft>
                <a:spcPts val="0"/>
              </a:spcAft>
              <a:buNone/>
            </a:pPr>
            <a:r>
              <a:rPr lang="en" sz="700">
                <a:solidFill>
                  <a:srgbClr val="0000FF"/>
                </a:solidFill>
              </a:rPr>
              <a:t>°C/decade</a:t>
            </a:r>
            <a:endParaRPr sz="700">
              <a:solidFill>
                <a:srgbClr val="0000FF"/>
              </a:solidFill>
            </a:endParaRPr>
          </a:p>
        </p:txBody>
      </p:sp>
      <p:sp>
        <p:nvSpPr>
          <p:cNvPr id="116" name="Google Shape;116;p16"/>
          <p:cNvSpPr/>
          <p:nvPr/>
        </p:nvSpPr>
        <p:spPr>
          <a:xfrm>
            <a:off x="1800225" y="157175"/>
            <a:ext cx="1519200" cy="30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6"/>
          <p:cNvSpPr txBox="1"/>
          <p:nvPr/>
        </p:nvSpPr>
        <p:spPr>
          <a:xfrm>
            <a:off x="1994000" y="64475"/>
            <a:ext cx="43830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900">
                <a:solidFill>
                  <a:schemeClr val="dk2"/>
                </a:solidFill>
              </a:rPr>
              <a:t>Realized  </a:t>
            </a:r>
            <a:r>
              <a:rPr b="1" lang="en" sz="1900">
                <a:solidFill>
                  <a:schemeClr val="dk2"/>
                </a:solidFill>
              </a:rPr>
              <a:t>  Climate System Warming</a:t>
            </a:r>
            <a:endParaRPr b="1" sz="1900">
              <a:solidFill>
                <a:schemeClr val="dk2"/>
              </a:solidFill>
            </a:endParaRPr>
          </a:p>
        </p:txBody>
      </p:sp>
      <p:pic>
        <p:nvPicPr>
          <p:cNvPr id="118" name="Google Shape;118;p16"/>
          <p:cNvPicPr preferRelativeResize="0"/>
          <p:nvPr/>
        </p:nvPicPr>
        <p:blipFill>
          <a:blip r:embed="rId6">
            <a:alphaModFix/>
          </a:blip>
          <a:stretch>
            <a:fillRect/>
          </a:stretch>
        </p:blipFill>
        <p:spPr>
          <a:xfrm>
            <a:off x="1822050" y="227694"/>
            <a:ext cx="244900" cy="185005"/>
          </a:xfrm>
          <a:prstGeom prst="rect">
            <a:avLst/>
          </a:prstGeom>
          <a:noFill/>
          <a:ln>
            <a:noFill/>
          </a:ln>
        </p:spPr>
      </p:pic>
      <p:sp>
        <p:nvSpPr>
          <p:cNvPr id="119" name="Google Shape;119;p16"/>
          <p:cNvSpPr txBox="1"/>
          <p:nvPr/>
        </p:nvSpPr>
        <p:spPr>
          <a:xfrm>
            <a:off x="609600" y="536900"/>
            <a:ext cx="792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Based on the </a:t>
            </a:r>
            <a:r>
              <a:rPr b="1" lang="en" sz="1800">
                <a:solidFill>
                  <a:schemeClr val="dk2"/>
                </a:solidFill>
              </a:rPr>
              <a:t>pointwise inverse-variance weighting (PIVW)</a:t>
            </a:r>
            <a:r>
              <a:rPr lang="en" sz="1800">
                <a:solidFill>
                  <a:schemeClr val="dk2"/>
                </a:solidFill>
              </a:rPr>
              <a:t> combination:</a:t>
            </a:r>
            <a:endParaRPr sz="1800">
              <a:solidFill>
                <a:schemeClr val="dk2"/>
              </a:solidFill>
            </a:endParaRPr>
          </a:p>
        </p:txBody>
      </p:sp>
      <p:sp>
        <p:nvSpPr>
          <p:cNvPr id="120" name="Google Shape;120;p16"/>
          <p:cNvSpPr txBox="1"/>
          <p:nvPr/>
        </p:nvSpPr>
        <p:spPr>
          <a:xfrm>
            <a:off x="6428825" y="805800"/>
            <a:ext cx="2750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21" name="Google Shape;121;p16"/>
          <p:cNvSpPr txBox="1"/>
          <p:nvPr/>
        </p:nvSpPr>
        <p:spPr>
          <a:xfrm>
            <a:off x="3801250" y="4741050"/>
            <a:ext cx="5377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Key References: </a:t>
            </a:r>
            <a:r>
              <a:rPr lang="en" sz="1600" u="sng">
                <a:solidFill>
                  <a:srgbClr val="0000FF"/>
                </a:solidFill>
              </a:rPr>
              <a:t>Cochran, 1954</a:t>
            </a:r>
            <a:r>
              <a:rPr lang="en" sz="1600">
                <a:solidFill>
                  <a:srgbClr val="0000FF"/>
                </a:solidFill>
              </a:rPr>
              <a:t>, </a:t>
            </a:r>
            <a:r>
              <a:rPr lang="en" sz="1600" u="sng">
                <a:solidFill>
                  <a:srgbClr val="0000FF"/>
                </a:solidFill>
              </a:rPr>
              <a:t>Lee et al., 2016</a:t>
            </a:r>
            <a:r>
              <a:rPr lang="en" sz="1600">
                <a:solidFill>
                  <a:schemeClr val="dk2"/>
                </a:solidFill>
              </a:rPr>
              <a:t> </a:t>
            </a:r>
            <a:endParaRPr sz="1600">
              <a:solidFill>
                <a:schemeClr val="dk2"/>
              </a:solidFill>
            </a:endParaRPr>
          </a:p>
        </p:txBody>
      </p:sp>
      <p:sp>
        <p:nvSpPr>
          <p:cNvPr id="122" name="Google Shape;122;p16"/>
          <p:cNvSpPr/>
          <p:nvPr/>
        </p:nvSpPr>
        <p:spPr>
          <a:xfrm>
            <a:off x="6913648" y="170200"/>
            <a:ext cx="2154600" cy="30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3" name="Google Shape;123;p16"/>
          <p:cNvPicPr preferRelativeResize="0"/>
          <p:nvPr/>
        </p:nvPicPr>
        <p:blipFill>
          <a:blip r:embed="rId6">
            <a:alphaModFix/>
          </a:blip>
          <a:stretch>
            <a:fillRect/>
          </a:stretch>
        </p:blipFill>
        <p:spPr>
          <a:xfrm>
            <a:off x="6989860" y="227694"/>
            <a:ext cx="303941" cy="185005"/>
          </a:xfrm>
          <a:prstGeom prst="rect">
            <a:avLst/>
          </a:prstGeom>
          <a:noFill/>
          <a:ln>
            <a:noFill/>
          </a:ln>
        </p:spPr>
      </p:pic>
      <p:sp>
        <p:nvSpPr>
          <p:cNvPr id="124" name="Google Shape;124;p16"/>
          <p:cNvSpPr txBox="1"/>
          <p:nvPr/>
        </p:nvSpPr>
        <p:spPr>
          <a:xfrm>
            <a:off x="7214916" y="117637"/>
            <a:ext cx="5973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rPr>
              <a:t>PIVW Combination</a:t>
            </a:r>
            <a:endParaRPr sz="100">
              <a:solidFill>
                <a:schemeClr val="dk1"/>
              </a:solidFill>
            </a:endParaRPr>
          </a:p>
        </p:txBody>
      </p:sp>
      <p:sp>
        <p:nvSpPr>
          <p:cNvPr id="125" name="Google Shape;125;p16"/>
          <p:cNvSpPr txBox="1"/>
          <p:nvPr>
            <p:ph idx="1" type="body"/>
          </p:nvPr>
        </p:nvSpPr>
        <p:spPr>
          <a:xfrm>
            <a:off x="3659650" y="973675"/>
            <a:ext cx="5172600" cy="15825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
              <a:t>Current (2024) realized global warming </a:t>
            </a:r>
            <a:r>
              <a:rPr b="1" lang="en">
                <a:solidFill>
                  <a:srgbClr val="6FA8DC"/>
                </a:solidFill>
              </a:rPr>
              <a:t>level</a:t>
            </a:r>
            <a:r>
              <a:rPr b="1" lang="en">
                <a:solidFill>
                  <a:schemeClr val="dk1"/>
                </a:solidFill>
              </a:rPr>
              <a:t> from PIVW: </a:t>
            </a:r>
            <a:endParaRPr b="1">
              <a:solidFill>
                <a:schemeClr val="dk1"/>
              </a:solidFill>
            </a:endParaRPr>
          </a:p>
          <a:p>
            <a:pPr indent="0" lvl="0" marL="0" rtl="0" algn="l">
              <a:lnSpc>
                <a:spcPct val="100000"/>
              </a:lnSpc>
              <a:spcBef>
                <a:spcPts val="0"/>
              </a:spcBef>
              <a:spcAft>
                <a:spcPts val="0"/>
              </a:spcAft>
              <a:buNone/>
            </a:pPr>
            <a:r>
              <a:rPr lang="en"/>
              <a:t>1.40 [1.234 - 1.578]</a:t>
            </a:r>
            <a:r>
              <a:rPr lang="en" sz="1500">
                <a:solidFill>
                  <a:srgbClr val="040C28"/>
                </a:solidFill>
                <a:highlight>
                  <a:schemeClr val="lt1"/>
                </a:highlight>
              </a:rPr>
              <a:t>°</a:t>
            </a:r>
            <a:r>
              <a:rPr lang="en"/>
              <a:t>C</a:t>
            </a:r>
            <a:r>
              <a:rPr lang="en"/>
              <a:t>, 95% uncertainty range</a:t>
            </a:r>
            <a:endParaRPr/>
          </a:p>
          <a:p>
            <a:pPr indent="0" lvl="0" marL="0" rtl="0" algn="l">
              <a:lnSpc>
                <a:spcPct val="100000"/>
              </a:lnSpc>
              <a:spcBef>
                <a:spcPts val="0"/>
              </a:spcBef>
              <a:spcAft>
                <a:spcPts val="0"/>
              </a:spcAft>
              <a:buNone/>
            </a:pPr>
            <a:r>
              <a:t/>
            </a:r>
            <a:endParaRPr/>
          </a:p>
          <a:p>
            <a:pPr indent="0" lvl="0" marL="0" rtl="0" algn="l">
              <a:spcBef>
                <a:spcPts val="0"/>
              </a:spcBef>
              <a:spcAft>
                <a:spcPts val="0"/>
              </a:spcAft>
              <a:buClr>
                <a:schemeClr val="dk1"/>
              </a:buClr>
              <a:buSzPct val="61111"/>
              <a:buFont typeface="Arial"/>
              <a:buNone/>
            </a:pPr>
            <a:r>
              <a:rPr b="1" lang="en"/>
              <a:t>Current (2024) realized global warming </a:t>
            </a:r>
            <a:r>
              <a:rPr b="1" lang="en">
                <a:solidFill>
                  <a:srgbClr val="0000FF"/>
                </a:solidFill>
              </a:rPr>
              <a:t>rate </a:t>
            </a:r>
            <a:r>
              <a:rPr b="1" lang="en">
                <a:solidFill>
                  <a:schemeClr val="dk1"/>
                </a:solidFill>
              </a:rPr>
              <a:t>from PIVW: </a:t>
            </a:r>
            <a:endParaRPr b="1"/>
          </a:p>
          <a:p>
            <a:pPr indent="0" lvl="0" marL="0" rtl="0" algn="l">
              <a:lnSpc>
                <a:spcPct val="100000"/>
              </a:lnSpc>
              <a:spcBef>
                <a:spcPts val="0"/>
              </a:spcBef>
              <a:spcAft>
                <a:spcPts val="0"/>
              </a:spcAft>
              <a:buClr>
                <a:schemeClr val="dk1"/>
              </a:buClr>
              <a:buSzPct val="61111"/>
              <a:buFont typeface="Arial"/>
              <a:buNone/>
            </a:pPr>
            <a:r>
              <a:rPr lang="en"/>
              <a:t>0.32</a:t>
            </a:r>
            <a:r>
              <a:rPr lang="en"/>
              <a:t> [0.295 - 0.347]</a:t>
            </a:r>
            <a:r>
              <a:rPr lang="en" sz="1500">
                <a:solidFill>
                  <a:srgbClr val="040C28"/>
                </a:solidFill>
                <a:highlight>
                  <a:schemeClr val="lt1"/>
                </a:highlight>
              </a:rPr>
              <a:t>°</a:t>
            </a:r>
            <a:r>
              <a:rPr lang="en"/>
              <a:t>C/decade</a:t>
            </a:r>
            <a:r>
              <a:rPr lang="en"/>
              <a:t>, 95% uncertainty range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It</a:t>
            </a:r>
            <a:r>
              <a:rPr lang="en"/>
              <a:t> is </a:t>
            </a:r>
            <a:r>
              <a:rPr i="1" lang="en"/>
              <a:t>very </a:t>
            </a:r>
            <a:r>
              <a:rPr i="1" lang="en"/>
              <a:t>unlikely</a:t>
            </a:r>
            <a:r>
              <a:rPr lang="en"/>
              <a:t> that global warming has exceeded 1.5</a:t>
            </a:r>
            <a:r>
              <a:rPr lang="en" sz="1500">
                <a:solidFill>
                  <a:srgbClr val="040C28"/>
                </a:solidFill>
                <a:highlight>
                  <a:srgbClr val="FFFFFF"/>
                </a:highlight>
              </a:rPr>
              <a:t>°</a:t>
            </a:r>
            <a:r>
              <a:rPr lang="en"/>
              <a:t>C</a:t>
            </a:r>
            <a:endParaRPr/>
          </a:p>
        </p:txBody>
      </p:sp>
      <p:sp>
        <p:nvSpPr>
          <p:cNvPr id="126" name="Google Shape;126;p16"/>
          <p:cNvSpPr/>
          <p:nvPr/>
        </p:nvSpPr>
        <p:spPr>
          <a:xfrm>
            <a:off x="1803250" y="1721044"/>
            <a:ext cx="1334700" cy="250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16"/>
          <p:cNvSpPr txBox="1"/>
          <p:nvPr/>
        </p:nvSpPr>
        <p:spPr>
          <a:xfrm>
            <a:off x="1663604" y="1619467"/>
            <a:ext cx="1614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    </a:t>
            </a:r>
            <a:r>
              <a:rPr lang="en" sz="1000">
                <a:solidFill>
                  <a:schemeClr val="dk1"/>
                </a:solidFill>
              </a:rPr>
              <a:t>1984</a:t>
            </a:r>
            <a:r>
              <a:rPr lang="en" sz="800">
                <a:solidFill>
                  <a:schemeClr val="dk1"/>
                </a:solidFill>
              </a:rPr>
              <a:t>		   </a:t>
            </a:r>
            <a:r>
              <a:rPr lang="en" sz="1000">
                <a:solidFill>
                  <a:schemeClr val="dk1"/>
                </a:solidFill>
              </a:rPr>
              <a:t>2010</a:t>
            </a:r>
            <a:endParaRPr sz="1000">
              <a:solidFill>
                <a:schemeClr val="dk1"/>
              </a:solidFill>
            </a:endParaRPr>
          </a:p>
          <a:p>
            <a:pPr indent="0" lvl="0" marL="0" rtl="0" algn="l">
              <a:spcBef>
                <a:spcPts val="0"/>
              </a:spcBef>
              <a:spcAft>
                <a:spcPts val="0"/>
              </a:spcAft>
              <a:buNone/>
            </a:pPr>
            <a:r>
              <a:rPr lang="en" sz="800">
                <a:solidFill>
                  <a:schemeClr val="dk1"/>
                </a:solidFill>
              </a:rPr>
              <a:t>[1974-1994]           </a:t>
            </a:r>
            <a:r>
              <a:rPr lang="en" sz="800">
                <a:solidFill>
                  <a:schemeClr val="dk1"/>
                </a:solidFill>
              </a:rPr>
              <a:t>[2002-2018] </a:t>
            </a:r>
            <a:endParaRPr>
              <a:solidFill>
                <a:schemeClr val="dk1"/>
              </a:solidFill>
            </a:endParaRPr>
          </a:p>
        </p:txBody>
      </p:sp>
      <p:sp>
        <p:nvSpPr>
          <p:cNvPr id="128" name="Google Shape;128;p16"/>
          <p:cNvSpPr/>
          <p:nvPr/>
        </p:nvSpPr>
        <p:spPr>
          <a:xfrm>
            <a:off x="537150" y="2001984"/>
            <a:ext cx="303900" cy="250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9" name="Google Shape;129;p16"/>
          <p:cNvPicPr preferRelativeResize="0"/>
          <p:nvPr/>
        </p:nvPicPr>
        <p:blipFill rotWithShape="1">
          <a:blip r:embed="rId4">
            <a:alphaModFix/>
          </a:blip>
          <a:srcRect b="0" l="57418" r="0" t="94345"/>
          <a:stretch/>
        </p:blipFill>
        <p:spPr>
          <a:xfrm>
            <a:off x="876700" y="4378650"/>
            <a:ext cx="2609150" cy="300000"/>
          </a:xfrm>
          <a:prstGeom prst="rect">
            <a:avLst/>
          </a:prstGeom>
          <a:noFill/>
          <a:ln>
            <a:noFill/>
          </a:ln>
        </p:spPr>
      </p:pic>
      <p:sp>
        <p:nvSpPr>
          <p:cNvPr id="130" name="Google Shape;130;p16"/>
          <p:cNvSpPr txBox="1"/>
          <p:nvPr/>
        </p:nvSpPr>
        <p:spPr>
          <a:xfrm>
            <a:off x="541883" y="2418280"/>
            <a:ext cx="449700" cy="21735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0"/>
              </a:spcAft>
              <a:buNone/>
            </a:pPr>
            <a:r>
              <a:rPr lang="en" sz="950">
                <a:solidFill>
                  <a:srgbClr val="CCCCCC"/>
                </a:solidFill>
              </a:rPr>
              <a:t>1.5</a:t>
            </a:r>
            <a:endParaRPr sz="950">
              <a:solidFill>
                <a:srgbClr val="CCCCCC"/>
              </a:solidFill>
            </a:endParaRPr>
          </a:p>
          <a:p>
            <a:pPr indent="0" lvl="0" marL="0" rtl="0" algn="l">
              <a:lnSpc>
                <a:spcPct val="105000"/>
              </a:lnSpc>
              <a:spcBef>
                <a:spcPts val="0"/>
              </a:spcBef>
              <a:spcAft>
                <a:spcPts val="0"/>
              </a:spcAft>
              <a:buNone/>
            </a:pPr>
            <a:r>
              <a:t/>
            </a:r>
            <a:endParaRPr sz="950">
              <a:solidFill>
                <a:srgbClr val="CCCCCC"/>
              </a:solidFill>
            </a:endParaRPr>
          </a:p>
          <a:p>
            <a:pPr indent="0" lvl="0" marL="0" rtl="0" algn="l">
              <a:lnSpc>
                <a:spcPct val="105000"/>
              </a:lnSpc>
              <a:spcBef>
                <a:spcPts val="0"/>
              </a:spcBef>
              <a:spcAft>
                <a:spcPts val="0"/>
              </a:spcAft>
              <a:buNone/>
            </a:pPr>
            <a:r>
              <a:t/>
            </a:r>
            <a:endParaRPr sz="950">
              <a:solidFill>
                <a:srgbClr val="CCCCCC"/>
              </a:solidFill>
            </a:endParaRPr>
          </a:p>
          <a:p>
            <a:pPr indent="0" lvl="0" marL="0" rtl="0" algn="l">
              <a:lnSpc>
                <a:spcPct val="105000"/>
              </a:lnSpc>
              <a:spcBef>
                <a:spcPts val="0"/>
              </a:spcBef>
              <a:spcAft>
                <a:spcPts val="0"/>
              </a:spcAft>
              <a:buNone/>
            </a:pPr>
            <a:r>
              <a:rPr lang="en" sz="950">
                <a:solidFill>
                  <a:srgbClr val="CCCCCC"/>
                </a:solidFill>
              </a:rPr>
              <a:t>1.0</a:t>
            </a:r>
            <a:endParaRPr sz="950">
              <a:solidFill>
                <a:srgbClr val="CCCCCC"/>
              </a:solidFill>
            </a:endParaRPr>
          </a:p>
          <a:p>
            <a:pPr indent="0" lvl="0" marL="0" rtl="0" algn="l">
              <a:lnSpc>
                <a:spcPct val="105000"/>
              </a:lnSpc>
              <a:spcBef>
                <a:spcPts val="0"/>
              </a:spcBef>
              <a:spcAft>
                <a:spcPts val="0"/>
              </a:spcAft>
              <a:buNone/>
            </a:pPr>
            <a:r>
              <a:t/>
            </a:r>
            <a:endParaRPr sz="950">
              <a:solidFill>
                <a:srgbClr val="CCCCCC"/>
              </a:solidFill>
            </a:endParaRPr>
          </a:p>
          <a:p>
            <a:pPr indent="0" lvl="0" marL="0" rtl="0" algn="l">
              <a:lnSpc>
                <a:spcPct val="105000"/>
              </a:lnSpc>
              <a:spcBef>
                <a:spcPts val="0"/>
              </a:spcBef>
              <a:spcAft>
                <a:spcPts val="0"/>
              </a:spcAft>
              <a:buNone/>
            </a:pPr>
            <a:r>
              <a:t/>
            </a:r>
            <a:endParaRPr sz="950">
              <a:solidFill>
                <a:srgbClr val="CCCCCC"/>
              </a:solidFill>
            </a:endParaRPr>
          </a:p>
          <a:p>
            <a:pPr indent="0" lvl="0" marL="0" rtl="0" algn="l">
              <a:lnSpc>
                <a:spcPct val="105000"/>
              </a:lnSpc>
              <a:spcBef>
                <a:spcPts val="0"/>
              </a:spcBef>
              <a:spcAft>
                <a:spcPts val="0"/>
              </a:spcAft>
              <a:buNone/>
            </a:pPr>
            <a:r>
              <a:rPr lang="en" sz="950">
                <a:solidFill>
                  <a:srgbClr val="CCCCCC"/>
                </a:solidFill>
              </a:rPr>
              <a:t>0.5</a:t>
            </a:r>
            <a:endParaRPr sz="950">
              <a:solidFill>
                <a:srgbClr val="CCCCCC"/>
              </a:solidFill>
            </a:endParaRPr>
          </a:p>
          <a:p>
            <a:pPr indent="0" lvl="0" marL="0" rtl="0" algn="l">
              <a:lnSpc>
                <a:spcPct val="105000"/>
              </a:lnSpc>
              <a:spcBef>
                <a:spcPts val="0"/>
              </a:spcBef>
              <a:spcAft>
                <a:spcPts val="0"/>
              </a:spcAft>
              <a:buNone/>
            </a:pPr>
            <a:r>
              <a:t/>
            </a:r>
            <a:endParaRPr sz="950">
              <a:solidFill>
                <a:srgbClr val="CCCCCC"/>
              </a:solidFill>
            </a:endParaRPr>
          </a:p>
          <a:p>
            <a:pPr indent="0" lvl="0" marL="0" rtl="0" algn="l">
              <a:lnSpc>
                <a:spcPct val="105000"/>
              </a:lnSpc>
              <a:spcBef>
                <a:spcPts val="0"/>
              </a:spcBef>
              <a:spcAft>
                <a:spcPts val="0"/>
              </a:spcAft>
              <a:buNone/>
            </a:pPr>
            <a:r>
              <a:t/>
            </a:r>
            <a:endParaRPr sz="950">
              <a:solidFill>
                <a:srgbClr val="CCCCCC"/>
              </a:solidFill>
            </a:endParaRPr>
          </a:p>
          <a:p>
            <a:pPr indent="0" lvl="0" marL="0" rtl="0" algn="l">
              <a:lnSpc>
                <a:spcPct val="105000"/>
              </a:lnSpc>
              <a:spcBef>
                <a:spcPts val="0"/>
              </a:spcBef>
              <a:spcAft>
                <a:spcPts val="0"/>
              </a:spcAft>
              <a:buNone/>
            </a:pPr>
            <a:r>
              <a:rPr lang="en" sz="950">
                <a:solidFill>
                  <a:srgbClr val="CCCCCC"/>
                </a:solidFill>
              </a:rPr>
              <a:t>0.0</a:t>
            </a:r>
            <a:endParaRPr sz="950">
              <a:solidFill>
                <a:srgbClr val="CCCCCC"/>
              </a:solidFill>
            </a:endParaRPr>
          </a:p>
          <a:p>
            <a:pPr indent="0" lvl="0" marL="0" rtl="0" algn="l">
              <a:lnSpc>
                <a:spcPct val="105000"/>
              </a:lnSpc>
              <a:spcBef>
                <a:spcPts val="0"/>
              </a:spcBef>
              <a:spcAft>
                <a:spcPts val="0"/>
              </a:spcAft>
              <a:buNone/>
            </a:pPr>
            <a:r>
              <a:t/>
            </a:r>
            <a:endParaRPr sz="950">
              <a:solidFill>
                <a:srgbClr val="CCCCCC"/>
              </a:solidFill>
            </a:endParaRPr>
          </a:p>
          <a:p>
            <a:pPr indent="0" lvl="0" marL="0" rtl="0" algn="l">
              <a:lnSpc>
                <a:spcPct val="105000"/>
              </a:lnSpc>
              <a:spcBef>
                <a:spcPts val="0"/>
              </a:spcBef>
              <a:spcAft>
                <a:spcPts val="0"/>
              </a:spcAft>
              <a:buNone/>
            </a:pPr>
            <a:r>
              <a:t/>
            </a:r>
            <a:endParaRPr sz="950">
              <a:solidFill>
                <a:srgbClr val="CCCCCC"/>
              </a:solidFill>
            </a:endParaRPr>
          </a:p>
          <a:p>
            <a:pPr indent="0" lvl="0" marL="0" rtl="0" algn="l">
              <a:lnSpc>
                <a:spcPct val="105000"/>
              </a:lnSpc>
              <a:spcBef>
                <a:spcPts val="0"/>
              </a:spcBef>
              <a:spcAft>
                <a:spcPts val="0"/>
              </a:spcAft>
              <a:buNone/>
            </a:pPr>
            <a:r>
              <a:rPr lang="en" sz="950">
                <a:solidFill>
                  <a:srgbClr val="CCCCCC"/>
                </a:solidFill>
              </a:rPr>
              <a:t>-0.5</a:t>
            </a:r>
            <a:endParaRPr sz="950">
              <a:solidFill>
                <a:srgbClr val="CCCCCC"/>
              </a:solidFill>
            </a:endParaRPr>
          </a:p>
        </p:txBody>
      </p:sp>
      <p:sp>
        <p:nvSpPr>
          <p:cNvPr id="113" name="Google Shape;113;p16"/>
          <p:cNvSpPr/>
          <p:nvPr/>
        </p:nvSpPr>
        <p:spPr>
          <a:xfrm>
            <a:off x="2560325" y="2011440"/>
            <a:ext cx="524700" cy="23388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pic>
        <p:nvPicPr>
          <p:cNvPr id="131" name="Google Shape;131;p16"/>
          <p:cNvPicPr preferRelativeResize="0"/>
          <p:nvPr/>
        </p:nvPicPr>
        <p:blipFill>
          <a:blip r:embed="rId7">
            <a:alphaModFix/>
          </a:blip>
          <a:stretch>
            <a:fillRect/>
          </a:stretch>
        </p:blipFill>
        <p:spPr>
          <a:xfrm>
            <a:off x="3892200" y="2447925"/>
            <a:ext cx="4354708" cy="22931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17"/>
          <p:cNvPicPr preferRelativeResize="0"/>
          <p:nvPr/>
        </p:nvPicPr>
        <p:blipFill rotWithShape="1">
          <a:blip r:embed="rId3">
            <a:alphaModFix/>
          </a:blip>
          <a:srcRect b="31950" l="0" r="30738" t="0"/>
          <a:stretch/>
        </p:blipFill>
        <p:spPr>
          <a:xfrm>
            <a:off x="295400" y="218325"/>
            <a:ext cx="8534150" cy="4716376"/>
          </a:xfrm>
          <a:prstGeom prst="rect">
            <a:avLst/>
          </a:prstGeom>
          <a:noFill/>
          <a:ln>
            <a:noFill/>
          </a:ln>
        </p:spPr>
      </p:pic>
      <p:sp>
        <p:nvSpPr>
          <p:cNvPr id="137" name="Google Shape;137;p17"/>
          <p:cNvSpPr txBox="1"/>
          <p:nvPr/>
        </p:nvSpPr>
        <p:spPr>
          <a:xfrm>
            <a:off x="7162800" y="2133600"/>
            <a:ext cx="1989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138" name="Google Shape;138;p17"/>
          <p:cNvPicPr preferRelativeResize="0"/>
          <p:nvPr/>
        </p:nvPicPr>
        <p:blipFill rotWithShape="1">
          <a:blip r:embed="rId3">
            <a:alphaModFix/>
          </a:blip>
          <a:srcRect b="71061" l="53531" r="45232" t="25641"/>
          <a:stretch/>
        </p:blipFill>
        <p:spPr>
          <a:xfrm>
            <a:off x="7167563" y="1995458"/>
            <a:ext cx="152400" cy="228601"/>
          </a:xfrm>
          <a:prstGeom prst="rect">
            <a:avLst/>
          </a:prstGeom>
          <a:noFill/>
          <a:ln>
            <a:noFill/>
          </a:ln>
        </p:spPr>
      </p:pic>
      <p:pic>
        <p:nvPicPr>
          <p:cNvPr id="139" name="Google Shape;139;p17"/>
          <p:cNvPicPr preferRelativeResize="0"/>
          <p:nvPr/>
        </p:nvPicPr>
        <p:blipFill rotWithShape="1">
          <a:blip r:embed="rId3">
            <a:alphaModFix/>
          </a:blip>
          <a:srcRect b="41512" l="28446" r="46199" t="55189"/>
          <a:stretch/>
        </p:blipFill>
        <p:spPr>
          <a:xfrm>
            <a:off x="1504950" y="2795587"/>
            <a:ext cx="3200400" cy="228601"/>
          </a:xfrm>
          <a:prstGeom prst="rect">
            <a:avLst/>
          </a:prstGeom>
          <a:noFill/>
          <a:ln>
            <a:noFill/>
          </a:ln>
        </p:spPr>
      </p:pic>
      <p:cxnSp>
        <p:nvCxnSpPr>
          <p:cNvPr id="140" name="Google Shape;140;p17"/>
          <p:cNvCxnSpPr/>
          <p:nvPr/>
        </p:nvCxnSpPr>
        <p:spPr>
          <a:xfrm>
            <a:off x="2819399" y="2795587"/>
            <a:ext cx="0" cy="228600"/>
          </a:xfrm>
          <a:prstGeom prst="straightConnector1">
            <a:avLst/>
          </a:prstGeom>
          <a:noFill/>
          <a:ln cap="flat" cmpd="sng" w="28575">
            <a:solidFill>
              <a:schemeClr val="dk1"/>
            </a:solidFill>
            <a:prstDash val="solid"/>
            <a:round/>
            <a:headEnd len="med" w="med" type="none"/>
            <a:tailEnd len="med" w="med" type="none"/>
          </a:ln>
        </p:spPr>
      </p:cxnSp>
      <p:pic>
        <p:nvPicPr>
          <p:cNvPr id="141" name="Google Shape;141;p17"/>
          <p:cNvPicPr preferRelativeResize="0"/>
          <p:nvPr/>
        </p:nvPicPr>
        <p:blipFill rotWithShape="1">
          <a:blip r:embed="rId3">
            <a:alphaModFix/>
          </a:blip>
          <a:srcRect b="41512" l="25490" r="46201" t="55189"/>
          <a:stretch/>
        </p:blipFill>
        <p:spPr>
          <a:xfrm>
            <a:off x="4676125" y="2262200"/>
            <a:ext cx="3473952" cy="228601"/>
          </a:xfrm>
          <a:prstGeom prst="rect">
            <a:avLst/>
          </a:prstGeom>
          <a:noFill/>
          <a:ln>
            <a:noFill/>
          </a:ln>
        </p:spPr>
      </p:pic>
      <p:cxnSp>
        <p:nvCxnSpPr>
          <p:cNvPr id="142" name="Google Shape;142;p17"/>
          <p:cNvCxnSpPr/>
          <p:nvPr/>
        </p:nvCxnSpPr>
        <p:spPr>
          <a:xfrm>
            <a:off x="6311449" y="2262200"/>
            <a:ext cx="0" cy="228600"/>
          </a:xfrm>
          <a:prstGeom prst="straightConnector1">
            <a:avLst/>
          </a:prstGeom>
          <a:noFill/>
          <a:ln cap="flat" cmpd="sng" w="28575">
            <a:solidFill>
              <a:schemeClr val="dk1"/>
            </a:solidFill>
            <a:prstDash val="solid"/>
            <a:round/>
            <a:headEnd len="med" w="med" type="none"/>
            <a:tailEnd len="med" w="med" type="none"/>
          </a:ln>
        </p:spPr>
      </p:cxnSp>
      <p:pic>
        <p:nvPicPr>
          <p:cNvPr id="143" name="Google Shape;143;p17"/>
          <p:cNvPicPr preferRelativeResize="0"/>
          <p:nvPr/>
        </p:nvPicPr>
        <p:blipFill>
          <a:blip r:embed="rId4">
            <a:alphaModFix/>
          </a:blip>
          <a:stretch>
            <a:fillRect/>
          </a:stretch>
        </p:blipFill>
        <p:spPr>
          <a:xfrm>
            <a:off x="5976338" y="1995423"/>
            <a:ext cx="627356" cy="266775"/>
          </a:xfrm>
          <a:prstGeom prst="rect">
            <a:avLst/>
          </a:prstGeom>
          <a:noFill/>
          <a:ln>
            <a:noFill/>
          </a:ln>
        </p:spPr>
      </p:pic>
      <p:sp>
        <p:nvSpPr>
          <p:cNvPr id="144" name="Google Shape;144;p17"/>
          <p:cNvSpPr/>
          <p:nvPr/>
        </p:nvSpPr>
        <p:spPr>
          <a:xfrm>
            <a:off x="6763350" y="1992559"/>
            <a:ext cx="627300" cy="2667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5" name="Google Shape;145;p17"/>
          <p:cNvPicPr preferRelativeResize="0"/>
          <p:nvPr/>
        </p:nvPicPr>
        <p:blipFill rotWithShape="1">
          <a:blip r:embed="rId3">
            <a:alphaModFix/>
          </a:blip>
          <a:srcRect b="41512" l="25490" r="70504" t="55190"/>
          <a:stretch/>
        </p:blipFill>
        <p:spPr>
          <a:xfrm>
            <a:off x="7956639" y="1737325"/>
            <a:ext cx="491626" cy="228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9" name="Shape 149"/>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9"/>
          <p:cNvSpPr/>
          <p:nvPr/>
        </p:nvSpPr>
        <p:spPr>
          <a:xfrm>
            <a:off x="1800225" y="157175"/>
            <a:ext cx="1519200" cy="30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5" name="Google Shape;155;p19"/>
          <p:cNvPicPr preferRelativeResize="0"/>
          <p:nvPr/>
        </p:nvPicPr>
        <p:blipFill>
          <a:blip r:embed="rId4">
            <a:alphaModFix/>
          </a:blip>
          <a:stretch>
            <a:fillRect/>
          </a:stretch>
        </p:blipFill>
        <p:spPr>
          <a:xfrm>
            <a:off x="104800" y="862000"/>
            <a:ext cx="3976676" cy="1765275"/>
          </a:xfrm>
          <a:prstGeom prst="rect">
            <a:avLst/>
          </a:prstGeom>
          <a:noFill/>
          <a:ln>
            <a:noFill/>
          </a:ln>
        </p:spPr>
      </p:pic>
      <p:pic>
        <p:nvPicPr>
          <p:cNvPr id="156" name="Google Shape;156;p19"/>
          <p:cNvPicPr preferRelativeResize="0"/>
          <p:nvPr/>
        </p:nvPicPr>
        <p:blipFill rotWithShape="1">
          <a:blip r:embed="rId5">
            <a:alphaModFix/>
          </a:blip>
          <a:srcRect b="0" l="199" r="189" t="0"/>
          <a:stretch/>
        </p:blipFill>
        <p:spPr>
          <a:xfrm>
            <a:off x="281000" y="3076575"/>
            <a:ext cx="1712995" cy="1723652"/>
          </a:xfrm>
          <a:prstGeom prst="rect">
            <a:avLst/>
          </a:prstGeom>
          <a:noFill/>
          <a:ln>
            <a:noFill/>
          </a:ln>
        </p:spPr>
      </p:pic>
      <p:sp>
        <p:nvSpPr>
          <p:cNvPr id="157" name="Google Shape;157;p19"/>
          <p:cNvSpPr txBox="1"/>
          <p:nvPr/>
        </p:nvSpPr>
        <p:spPr>
          <a:xfrm>
            <a:off x="470625" y="4736700"/>
            <a:ext cx="1300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Crossed: </a:t>
            </a:r>
            <a:r>
              <a:rPr lang="en" sz="1300">
                <a:solidFill>
                  <a:srgbClr val="CB2D20"/>
                </a:solidFill>
              </a:rPr>
              <a:t>1985</a:t>
            </a:r>
            <a:endParaRPr sz="1800">
              <a:solidFill>
                <a:srgbClr val="CB2D20"/>
              </a:solidFill>
            </a:endParaRPr>
          </a:p>
        </p:txBody>
      </p:sp>
      <p:pic>
        <p:nvPicPr>
          <p:cNvPr id="158" name="Google Shape;158;p19"/>
          <p:cNvPicPr preferRelativeResize="0"/>
          <p:nvPr/>
        </p:nvPicPr>
        <p:blipFill>
          <a:blip r:embed="rId6">
            <a:alphaModFix/>
          </a:blip>
          <a:stretch>
            <a:fillRect/>
          </a:stretch>
        </p:blipFill>
        <p:spPr>
          <a:xfrm>
            <a:off x="4231113" y="1928150"/>
            <a:ext cx="850551" cy="735650"/>
          </a:xfrm>
          <a:prstGeom prst="rect">
            <a:avLst/>
          </a:prstGeom>
          <a:noFill/>
          <a:ln>
            <a:noFill/>
          </a:ln>
        </p:spPr>
      </p:pic>
      <p:sp>
        <p:nvSpPr>
          <p:cNvPr id="159" name="Google Shape;159;p19"/>
          <p:cNvSpPr txBox="1"/>
          <p:nvPr/>
        </p:nvSpPr>
        <p:spPr>
          <a:xfrm>
            <a:off x="4157800" y="862000"/>
            <a:ext cx="2004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2"/>
                </a:solidFill>
              </a:rPr>
              <a:t>Temperature Reconstructions</a:t>
            </a:r>
            <a:endParaRPr b="1" sz="1000">
              <a:solidFill>
                <a:schemeClr val="dk2"/>
              </a:solidFill>
            </a:endParaRPr>
          </a:p>
        </p:txBody>
      </p:sp>
      <p:sp>
        <p:nvSpPr>
          <p:cNvPr id="160" name="Google Shape;160;p19"/>
          <p:cNvSpPr txBox="1"/>
          <p:nvPr/>
        </p:nvSpPr>
        <p:spPr>
          <a:xfrm>
            <a:off x="4238650" y="1687875"/>
            <a:ext cx="1843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2"/>
                </a:solidFill>
              </a:rPr>
              <a:t>Emulators</a:t>
            </a:r>
            <a:endParaRPr b="1" sz="1000">
              <a:solidFill>
                <a:schemeClr val="dk2"/>
              </a:solidFill>
            </a:endParaRPr>
          </a:p>
        </p:txBody>
      </p:sp>
      <p:sp>
        <p:nvSpPr>
          <p:cNvPr id="161" name="Google Shape;161;p19"/>
          <p:cNvSpPr txBox="1"/>
          <p:nvPr/>
        </p:nvSpPr>
        <p:spPr>
          <a:xfrm>
            <a:off x="5476900" y="500050"/>
            <a:ext cx="1843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2"/>
                </a:solidFill>
              </a:rPr>
              <a:t>Lines of Evidence:</a:t>
            </a:r>
            <a:endParaRPr b="1" sz="1000">
              <a:solidFill>
                <a:schemeClr val="dk2"/>
              </a:solidFill>
            </a:endParaRPr>
          </a:p>
        </p:txBody>
      </p:sp>
      <p:sp>
        <p:nvSpPr>
          <p:cNvPr id="162" name="Google Shape;162;p19"/>
          <p:cNvSpPr txBox="1"/>
          <p:nvPr/>
        </p:nvSpPr>
        <p:spPr>
          <a:xfrm>
            <a:off x="4143500" y="1111800"/>
            <a:ext cx="22335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50">
                <a:solidFill>
                  <a:srgbClr val="444746"/>
                </a:solidFill>
                <a:latin typeface="Roboto"/>
                <a:ea typeface="Roboto"/>
                <a:cs typeface="Roboto"/>
                <a:sym typeface="Roboto"/>
              </a:rPr>
              <a:t>HadCRUT5, Kadow et al., Berkeley Earth, HadCRU_MLE, DCENT_MLE, NOAAGlobalTempv5.1, NOAAGlobalTempv6.0, China-MST2.0-Imax, and COBE-LSAT3</a:t>
            </a:r>
            <a:endParaRPr sz="1100"/>
          </a:p>
        </p:txBody>
      </p:sp>
      <p:sp>
        <p:nvSpPr>
          <p:cNvPr id="163" name="Google Shape;163;p19"/>
          <p:cNvSpPr txBox="1"/>
          <p:nvPr/>
        </p:nvSpPr>
        <p:spPr>
          <a:xfrm>
            <a:off x="2273338" y="4736700"/>
            <a:ext cx="1300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Crossed: </a:t>
            </a:r>
            <a:r>
              <a:rPr lang="en" sz="1300">
                <a:solidFill>
                  <a:srgbClr val="CB2D20"/>
                </a:solidFill>
              </a:rPr>
              <a:t>2011</a:t>
            </a:r>
            <a:endParaRPr sz="1800">
              <a:solidFill>
                <a:srgbClr val="CB2D20"/>
              </a:solidFill>
            </a:endParaRPr>
          </a:p>
        </p:txBody>
      </p:sp>
      <p:pic>
        <p:nvPicPr>
          <p:cNvPr id="164" name="Google Shape;164;p19"/>
          <p:cNvPicPr preferRelativeResize="0"/>
          <p:nvPr/>
        </p:nvPicPr>
        <p:blipFill>
          <a:blip r:embed="rId7">
            <a:alphaModFix/>
          </a:blip>
          <a:stretch>
            <a:fillRect/>
          </a:stretch>
        </p:blipFill>
        <p:spPr>
          <a:xfrm>
            <a:off x="3852900" y="3076571"/>
            <a:ext cx="1749665" cy="1723649"/>
          </a:xfrm>
          <a:prstGeom prst="rect">
            <a:avLst/>
          </a:prstGeom>
          <a:noFill/>
          <a:ln>
            <a:noFill/>
          </a:ln>
        </p:spPr>
      </p:pic>
      <p:pic>
        <p:nvPicPr>
          <p:cNvPr id="165" name="Google Shape;165;p19"/>
          <p:cNvPicPr preferRelativeResize="0"/>
          <p:nvPr/>
        </p:nvPicPr>
        <p:blipFill>
          <a:blip r:embed="rId8">
            <a:alphaModFix/>
          </a:blip>
          <a:stretch>
            <a:fillRect/>
          </a:stretch>
        </p:blipFill>
        <p:spPr>
          <a:xfrm>
            <a:off x="2066938" y="3087950"/>
            <a:ext cx="1713001" cy="1700901"/>
          </a:xfrm>
          <a:prstGeom prst="rect">
            <a:avLst/>
          </a:prstGeom>
          <a:noFill/>
          <a:ln>
            <a:noFill/>
          </a:ln>
        </p:spPr>
      </p:pic>
      <p:sp>
        <p:nvSpPr>
          <p:cNvPr id="166" name="Google Shape;166;p19"/>
          <p:cNvSpPr txBox="1"/>
          <p:nvPr/>
        </p:nvSpPr>
        <p:spPr>
          <a:xfrm>
            <a:off x="1994000" y="64475"/>
            <a:ext cx="43338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900">
                <a:solidFill>
                  <a:schemeClr val="dk2"/>
                </a:solidFill>
              </a:rPr>
              <a:t>Observed  Climate </a:t>
            </a:r>
            <a:r>
              <a:rPr b="1" lang="en" sz="1900">
                <a:solidFill>
                  <a:schemeClr val="dk2"/>
                </a:solidFill>
              </a:rPr>
              <a:t>System</a:t>
            </a:r>
            <a:r>
              <a:rPr b="1" lang="en" sz="1900">
                <a:solidFill>
                  <a:schemeClr val="dk2"/>
                </a:solidFill>
              </a:rPr>
              <a:t> Warming</a:t>
            </a:r>
            <a:endParaRPr b="1" sz="1900">
              <a:solidFill>
                <a:schemeClr val="dk2"/>
              </a:solidFill>
            </a:endParaRPr>
          </a:p>
        </p:txBody>
      </p:sp>
      <p:sp>
        <p:nvSpPr>
          <p:cNvPr id="167" name="Google Shape;167;p19"/>
          <p:cNvSpPr txBox="1"/>
          <p:nvPr/>
        </p:nvSpPr>
        <p:spPr>
          <a:xfrm>
            <a:off x="4233875" y="2579650"/>
            <a:ext cx="850500" cy="300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50">
                <a:solidFill>
                  <a:srgbClr val="444746"/>
                </a:solidFill>
                <a:latin typeface="Roboto"/>
                <a:ea typeface="Roboto"/>
                <a:cs typeface="Roboto"/>
                <a:sym typeface="Roboto"/>
              </a:rPr>
              <a:t>EBM-KF</a:t>
            </a:r>
            <a:endParaRPr/>
          </a:p>
        </p:txBody>
      </p:sp>
      <p:sp>
        <p:nvSpPr>
          <p:cNvPr id="168" name="Google Shape;168;p19"/>
          <p:cNvSpPr txBox="1"/>
          <p:nvPr/>
        </p:nvSpPr>
        <p:spPr>
          <a:xfrm>
            <a:off x="5231325" y="2579650"/>
            <a:ext cx="850500" cy="300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50">
                <a:solidFill>
                  <a:srgbClr val="444746"/>
                </a:solidFill>
                <a:latin typeface="Roboto"/>
                <a:ea typeface="Roboto"/>
                <a:cs typeface="Roboto"/>
                <a:sym typeface="Roboto"/>
              </a:rPr>
              <a:t>FAIR</a:t>
            </a:r>
            <a:endParaRPr/>
          </a:p>
        </p:txBody>
      </p:sp>
      <p:pic>
        <p:nvPicPr>
          <p:cNvPr id="169" name="Google Shape;169;p19"/>
          <p:cNvPicPr preferRelativeResize="0"/>
          <p:nvPr/>
        </p:nvPicPr>
        <p:blipFill rotWithShape="1">
          <a:blip r:embed="rId9">
            <a:alphaModFix/>
          </a:blip>
          <a:srcRect b="0" l="35248" r="32500" t="8634"/>
          <a:stretch/>
        </p:blipFill>
        <p:spPr>
          <a:xfrm>
            <a:off x="5289175" y="1964675"/>
            <a:ext cx="734796" cy="662600"/>
          </a:xfrm>
          <a:prstGeom prst="rect">
            <a:avLst/>
          </a:prstGeom>
          <a:noFill/>
          <a:ln>
            <a:noFill/>
          </a:ln>
        </p:spPr>
      </p:pic>
      <p:pic>
        <p:nvPicPr>
          <p:cNvPr id="170" name="Google Shape;170;p19"/>
          <p:cNvPicPr preferRelativeResize="0"/>
          <p:nvPr/>
        </p:nvPicPr>
        <p:blipFill>
          <a:blip r:embed="rId10">
            <a:alphaModFix/>
          </a:blip>
          <a:stretch>
            <a:fillRect/>
          </a:stretch>
        </p:blipFill>
        <p:spPr>
          <a:xfrm>
            <a:off x="5843700" y="3076575"/>
            <a:ext cx="1749675" cy="1729477"/>
          </a:xfrm>
          <a:prstGeom prst="rect">
            <a:avLst/>
          </a:prstGeom>
          <a:noFill/>
          <a:ln>
            <a:noFill/>
          </a:ln>
        </p:spPr>
      </p:pic>
      <p:pic>
        <p:nvPicPr>
          <p:cNvPr id="171" name="Google Shape;171;p19"/>
          <p:cNvPicPr preferRelativeResize="0"/>
          <p:nvPr/>
        </p:nvPicPr>
        <p:blipFill>
          <a:blip r:embed="rId11">
            <a:alphaModFix/>
          </a:blip>
          <a:stretch>
            <a:fillRect/>
          </a:stretch>
        </p:blipFill>
        <p:spPr>
          <a:xfrm>
            <a:off x="1822050" y="227694"/>
            <a:ext cx="244900" cy="185005"/>
          </a:xfrm>
          <a:prstGeom prst="rect">
            <a:avLst/>
          </a:prstGeom>
          <a:noFill/>
          <a:ln>
            <a:noFill/>
          </a:ln>
        </p:spPr>
      </p:pic>
      <p:pic>
        <p:nvPicPr>
          <p:cNvPr id="172" name="Google Shape;172;p19"/>
          <p:cNvPicPr preferRelativeResize="0"/>
          <p:nvPr/>
        </p:nvPicPr>
        <p:blipFill>
          <a:blip r:embed="rId12">
            <a:alphaModFix/>
          </a:blip>
          <a:stretch>
            <a:fillRect/>
          </a:stretch>
        </p:blipFill>
        <p:spPr>
          <a:xfrm>
            <a:off x="7416675" y="1399739"/>
            <a:ext cx="850550" cy="735613"/>
          </a:xfrm>
          <a:prstGeom prst="rect">
            <a:avLst/>
          </a:prstGeom>
          <a:noFill/>
          <a:ln>
            <a:noFill/>
          </a:ln>
        </p:spPr>
      </p:pic>
      <p:pic>
        <p:nvPicPr>
          <p:cNvPr id="173" name="Google Shape;173;p19"/>
          <p:cNvPicPr preferRelativeResize="0"/>
          <p:nvPr/>
        </p:nvPicPr>
        <p:blipFill rotWithShape="1">
          <a:blip r:embed="rId13">
            <a:alphaModFix/>
          </a:blip>
          <a:srcRect b="7447" l="0" r="0" t="7447"/>
          <a:stretch/>
        </p:blipFill>
        <p:spPr>
          <a:xfrm>
            <a:off x="6578475" y="1399725"/>
            <a:ext cx="766092" cy="662600"/>
          </a:xfrm>
          <a:prstGeom prst="rect">
            <a:avLst/>
          </a:prstGeom>
          <a:noFill/>
          <a:ln>
            <a:noFill/>
          </a:ln>
        </p:spPr>
      </p:pic>
      <p:sp>
        <p:nvSpPr>
          <p:cNvPr id="174" name="Google Shape;174;p19"/>
          <p:cNvSpPr txBox="1"/>
          <p:nvPr/>
        </p:nvSpPr>
        <p:spPr>
          <a:xfrm>
            <a:off x="7416675" y="2014700"/>
            <a:ext cx="850500" cy="300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50">
                <a:solidFill>
                  <a:srgbClr val="444746"/>
                </a:solidFill>
                <a:latin typeface="Roboto"/>
                <a:ea typeface="Roboto"/>
                <a:cs typeface="Roboto"/>
                <a:sym typeface="Roboto"/>
              </a:rPr>
              <a:t>CMIP6</a:t>
            </a:r>
            <a:endParaRPr/>
          </a:p>
        </p:txBody>
      </p:sp>
      <p:sp>
        <p:nvSpPr>
          <p:cNvPr id="175" name="Google Shape;175;p19"/>
          <p:cNvSpPr txBox="1"/>
          <p:nvPr/>
        </p:nvSpPr>
        <p:spPr>
          <a:xfrm>
            <a:off x="6536275" y="2014700"/>
            <a:ext cx="850500" cy="300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50">
                <a:solidFill>
                  <a:srgbClr val="444746"/>
                </a:solidFill>
                <a:latin typeface="Roboto"/>
                <a:ea typeface="Roboto"/>
                <a:cs typeface="Roboto"/>
                <a:sym typeface="Roboto"/>
              </a:rPr>
              <a:t>CMIP5</a:t>
            </a:r>
            <a:endParaRPr/>
          </a:p>
        </p:txBody>
      </p:sp>
      <p:sp>
        <p:nvSpPr>
          <p:cNvPr id="176" name="Google Shape;176;p19"/>
          <p:cNvSpPr txBox="1"/>
          <p:nvPr/>
        </p:nvSpPr>
        <p:spPr>
          <a:xfrm>
            <a:off x="6493050" y="1111788"/>
            <a:ext cx="1843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2"/>
                </a:solidFill>
              </a:rPr>
              <a:t>Climate Models</a:t>
            </a:r>
            <a:endParaRPr b="1" sz="10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0"/>
          <p:cNvSpPr/>
          <p:nvPr/>
        </p:nvSpPr>
        <p:spPr>
          <a:xfrm>
            <a:off x="1800225" y="157175"/>
            <a:ext cx="1519200" cy="30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2" name="Google Shape;182;p20"/>
          <p:cNvPicPr preferRelativeResize="0"/>
          <p:nvPr/>
        </p:nvPicPr>
        <p:blipFill rotWithShape="1">
          <a:blip r:embed="rId4">
            <a:alphaModFix/>
          </a:blip>
          <a:srcRect b="0" l="199" r="189" t="0"/>
          <a:stretch/>
        </p:blipFill>
        <p:spPr>
          <a:xfrm>
            <a:off x="281000" y="3076575"/>
            <a:ext cx="1712995" cy="1723652"/>
          </a:xfrm>
          <a:prstGeom prst="rect">
            <a:avLst/>
          </a:prstGeom>
          <a:noFill/>
          <a:ln>
            <a:noFill/>
          </a:ln>
        </p:spPr>
      </p:pic>
      <p:sp>
        <p:nvSpPr>
          <p:cNvPr id="183" name="Google Shape;183;p20"/>
          <p:cNvSpPr txBox="1"/>
          <p:nvPr/>
        </p:nvSpPr>
        <p:spPr>
          <a:xfrm>
            <a:off x="470625" y="4736700"/>
            <a:ext cx="1300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Crossed: </a:t>
            </a:r>
            <a:r>
              <a:rPr lang="en" sz="1300">
                <a:solidFill>
                  <a:srgbClr val="CB2D20"/>
                </a:solidFill>
              </a:rPr>
              <a:t>1985</a:t>
            </a:r>
            <a:endParaRPr sz="1800">
              <a:solidFill>
                <a:srgbClr val="CB2D20"/>
              </a:solidFill>
            </a:endParaRPr>
          </a:p>
        </p:txBody>
      </p:sp>
      <p:pic>
        <p:nvPicPr>
          <p:cNvPr id="184" name="Google Shape;184;p20"/>
          <p:cNvPicPr preferRelativeResize="0"/>
          <p:nvPr/>
        </p:nvPicPr>
        <p:blipFill>
          <a:blip r:embed="rId5">
            <a:alphaModFix/>
          </a:blip>
          <a:stretch>
            <a:fillRect/>
          </a:stretch>
        </p:blipFill>
        <p:spPr>
          <a:xfrm>
            <a:off x="4858775" y="1119925"/>
            <a:ext cx="850551" cy="735650"/>
          </a:xfrm>
          <a:prstGeom prst="rect">
            <a:avLst/>
          </a:prstGeom>
          <a:noFill/>
          <a:ln>
            <a:noFill/>
          </a:ln>
        </p:spPr>
      </p:pic>
      <p:sp>
        <p:nvSpPr>
          <p:cNvPr id="185" name="Google Shape;185;p20"/>
          <p:cNvSpPr txBox="1"/>
          <p:nvPr/>
        </p:nvSpPr>
        <p:spPr>
          <a:xfrm>
            <a:off x="4866313" y="879650"/>
            <a:ext cx="1843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2"/>
                </a:solidFill>
              </a:rPr>
              <a:t>Emulators</a:t>
            </a:r>
            <a:endParaRPr b="1" sz="1000">
              <a:solidFill>
                <a:schemeClr val="dk2"/>
              </a:solidFill>
            </a:endParaRPr>
          </a:p>
        </p:txBody>
      </p:sp>
      <p:sp>
        <p:nvSpPr>
          <p:cNvPr id="186" name="Google Shape;186;p20"/>
          <p:cNvSpPr txBox="1"/>
          <p:nvPr/>
        </p:nvSpPr>
        <p:spPr>
          <a:xfrm>
            <a:off x="4862550" y="611000"/>
            <a:ext cx="1843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2"/>
                </a:solidFill>
              </a:rPr>
              <a:t>Lines of Evidence:</a:t>
            </a:r>
            <a:endParaRPr b="1" sz="1000">
              <a:solidFill>
                <a:schemeClr val="dk2"/>
              </a:solidFill>
            </a:endParaRPr>
          </a:p>
        </p:txBody>
      </p:sp>
      <p:sp>
        <p:nvSpPr>
          <p:cNvPr id="187" name="Google Shape;187;p20"/>
          <p:cNvSpPr txBox="1"/>
          <p:nvPr/>
        </p:nvSpPr>
        <p:spPr>
          <a:xfrm>
            <a:off x="4866325" y="1896163"/>
            <a:ext cx="1843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2"/>
                </a:solidFill>
              </a:rPr>
              <a:t>Climate Models</a:t>
            </a:r>
            <a:endParaRPr b="1" sz="1000">
              <a:solidFill>
                <a:schemeClr val="dk2"/>
              </a:solidFill>
            </a:endParaRPr>
          </a:p>
        </p:txBody>
      </p:sp>
      <p:sp>
        <p:nvSpPr>
          <p:cNvPr id="188" name="Google Shape;188;p20"/>
          <p:cNvSpPr txBox="1"/>
          <p:nvPr/>
        </p:nvSpPr>
        <p:spPr>
          <a:xfrm>
            <a:off x="2273338" y="4736700"/>
            <a:ext cx="1300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Crossed: </a:t>
            </a:r>
            <a:r>
              <a:rPr lang="en" sz="1300">
                <a:solidFill>
                  <a:srgbClr val="CB2D20"/>
                </a:solidFill>
              </a:rPr>
              <a:t>2011</a:t>
            </a:r>
            <a:endParaRPr sz="1800">
              <a:solidFill>
                <a:srgbClr val="CB2D20"/>
              </a:solidFill>
            </a:endParaRPr>
          </a:p>
        </p:txBody>
      </p:sp>
      <p:pic>
        <p:nvPicPr>
          <p:cNvPr id="189" name="Google Shape;189;p20"/>
          <p:cNvPicPr preferRelativeResize="0"/>
          <p:nvPr/>
        </p:nvPicPr>
        <p:blipFill>
          <a:blip r:embed="rId6">
            <a:alphaModFix/>
          </a:blip>
          <a:stretch>
            <a:fillRect/>
          </a:stretch>
        </p:blipFill>
        <p:spPr>
          <a:xfrm>
            <a:off x="3852900" y="3076571"/>
            <a:ext cx="1749665" cy="1723649"/>
          </a:xfrm>
          <a:prstGeom prst="rect">
            <a:avLst/>
          </a:prstGeom>
          <a:noFill/>
          <a:ln>
            <a:noFill/>
          </a:ln>
        </p:spPr>
      </p:pic>
      <p:pic>
        <p:nvPicPr>
          <p:cNvPr id="190" name="Google Shape;190;p20"/>
          <p:cNvPicPr preferRelativeResize="0"/>
          <p:nvPr/>
        </p:nvPicPr>
        <p:blipFill>
          <a:blip r:embed="rId7">
            <a:alphaModFix/>
          </a:blip>
          <a:stretch>
            <a:fillRect/>
          </a:stretch>
        </p:blipFill>
        <p:spPr>
          <a:xfrm>
            <a:off x="2066938" y="3087950"/>
            <a:ext cx="1713001" cy="1700901"/>
          </a:xfrm>
          <a:prstGeom prst="rect">
            <a:avLst/>
          </a:prstGeom>
          <a:noFill/>
          <a:ln>
            <a:noFill/>
          </a:ln>
        </p:spPr>
      </p:pic>
      <p:sp>
        <p:nvSpPr>
          <p:cNvPr id="191" name="Google Shape;191;p20"/>
          <p:cNvSpPr txBox="1"/>
          <p:nvPr/>
        </p:nvSpPr>
        <p:spPr>
          <a:xfrm>
            <a:off x="1994000" y="64475"/>
            <a:ext cx="43830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900">
                <a:solidFill>
                  <a:schemeClr val="dk2"/>
                </a:solidFill>
              </a:rPr>
              <a:t>Attributed</a:t>
            </a:r>
            <a:r>
              <a:rPr b="1" lang="en" sz="1900">
                <a:solidFill>
                  <a:schemeClr val="dk2"/>
                </a:solidFill>
              </a:rPr>
              <a:t>  Climate System Warming</a:t>
            </a:r>
            <a:endParaRPr b="1" sz="1900">
              <a:solidFill>
                <a:schemeClr val="dk2"/>
              </a:solidFill>
            </a:endParaRPr>
          </a:p>
        </p:txBody>
      </p:sp>
      <p:pic>
        <p:nvPicPr>
          <p:cNvPr id="192" name="Google Shape;192;p20"/>
          <p:cNvPicPr preferRelativeResize="0"/>
          <p:nvPr/>
        </p:nvPicPr>
        <p:blipFill>
          <a:blip r:embed="rId8">
            <a:alphaModFix/>
          </a:blip>
          <a:stretch>
            <a:fillRect/>
          </a:stretch>
        </p:blipFill>
        <p:spPr>
          <a:xfrm>
            <a:off x="5818625" y="2172977"/>
            <a:ext cx="850550" cy="735613"/>
          </a:xfrm>
          <a:prstGeom prst="rect">
            <a:avLst/>
          </a:prstGeom>
          <a:noFill/>
          <a:ln>
            <a:noFill/>
          </a:ln>
        </p:spPr>
      </p:pic>
      <p:sp>
        <p:nvSpPr>
          <p:cNvPr id="193" name="Google Shape;193;p20"/>
          <p:cNvSpPr txBox="1"/>
          <p:nvPr/>
        </p:nvSpPr>
        <p:spPr>
          <a:xfrm>
            <a:off x="4861538" y="1771425"/>
            <a:ext cx="850500" cy="300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50">
                <a:solidFill>
                  <a:srgbClr val="444746"/>
                </a:solidFill>
                <a:latin typeface="Roboto"/>
                <a:ea typeface="Roboto"/>
                <a:cs typeface="Roboto"/>
                <a:sym typeface="Roboto"/>
              </a:rPr>
              <a:t>EBM-KF</a:t>
            </a:r>
            <a:endParaRPr/>
          </a:p>
        </p:txBody>
      </p:sp>
      <p:sp>
        <p:nvSpPr>
          <p:cNvPr id="194" name="Google Shape;194;p20"/>
          <p:cNvSpPr txBox="1"/>
          <p:nvPr/>
        </p:nvSpPr>
        <p:spPr>
          <a:xfrm>
            <a:off x="5858988" y="1771425"/>
            <a:ext cx="850500" cy="300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50">
                <a:solidFill>
                  <a:srgbClr val="444746"/>
                </a:solidFill>
                <a:latin typeface="Roboto"/>
                <a:ea typeface="Roboto"/>
                <a:cs typeface="Roboto"/>
                <a:sym typeface="Roboto"/>
              </a:rPr>
              <a:t>FAIR</a:t>
            </a:r>
            <a:endParaRPr/>
          </a:p>
        </p:txBody>
      </p:sp>
      <p:pic>
        <p:nvPicPr>
          <p:cNvPr id="195" name="Google Shape;195;p20"/>
          <p:cNvPicPr preferRelativeResize="0"/>
          <p:nvPr/>
        </p:nvPicPr>
        <p:blipFill rotWithShape="1">
          <a:blip r:embed="rId9">
            <a:alphaModFix/>
          </a:blip>
          <a:srcRect b="0" l="35248" r="32500" t="8634"/>
          <a:stretch/>
        </p:blipFill>
        <p:spPr>
          <a:xfrm>
            <a:off x="5916838" y="1156450"/>
            <a:ext cx="734796" cy="662600"/>
          </a:xfrm>
          <a:prstGeom prst="rect">
            <a:avLst/>
          </a:prstGeom>
          <a:noFill/>
          <a:ln>
            <a:noFill/>
          </a:ln>
        </p:spPr>
      </p:pic>
      <p:pic>
        <p:nvPicPr>
          <p:cNvPr id="196" name="Google Shape;196;p20"/>
          <p:cNvPicPr preferRelativeResize="0"/>
          <p:nvPr/>
        </p:nvPicPr>
        <p:blipFill rotWithShape="1">
          <a:blip r:embed="rId10">
            <a:alphaModFix/>
          </a:blip>
          <a:srcRect b="7447" l="0" r="0" t="7447"/>
          <a:stretch/>
        </p:blipFill>
        <p:spPr>
          <a:xfrm>
            <a:off x="4980425" y="2172963"/>
            <a:ext cx="766092" cy="662600"/>
          </a:xfrm>
          <a:prstGeom prst="rect">
            <a:avLst/>
          </a:prstGeom>
          <a:noFill/>
          <a:ln>
            <a:noFill/>
          </a:ln>
        </p:spPr>
      </p:pic>
      <p:sp>
        <p:nvSpPr>
          <p:cNvPr id="197" name="Google Shape;197;p20"/>
          <p:cNvSpPr txBox="1"/>
          <p:nvPr/>
        </p:nvSpPr>
        <p:spPr>
          <a:xfrm>
            <a:off x="5818625" y="2787938"/>
            <a:ext cx="850500" cy="300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50">
                <a:solidFill>
                  <a:srgbClr val="444746"/>
                </a:solidFill>
                <a:latin typeface="Roboto"/>
                <a:ea typeface="Roboto"/>
                <a:cs typeface="Roboto"/>
                <a:sym typeface="Roboto"/>
              </a:rPr>
              <a:t>CMIP6</a:t>
            </a:r>
            <a:endParaRPr/>
          </a:p>
        </p:txBody>
      </p:sp>
      <p:sp>
        <p:nvSpPr>
          <p:cNvPr id="198" name="Google Shape;198;p20"/>
          <p:cNvSpPr txBox="1"/>
          <p:nvPr/>
        </p:nvSpPr>
        <p:spPr>
          <a:xfrm>
            <a:off x="4938225" y="2787938"/>
            <a:ext cx="850500" cy="300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50">
                <a:solidFill>
                  <a:srgbClr val="444746"/>
                </a:solidFill>
                <a:latin typeface="Roboto"/>
                <a:ea typeface="Roboto"/>
                <a:cs typeface="Roboto"/>
                <a:sym typeface="Roboto"/>
              </a:rPr>
              <a:t>CMIP5</a:t>
            </a:r>
            <a:endParaRPr/>
          </a:p>
        </p:txBody>
      </p:sp>
      <p:pic>
        <p:nvPicPr>
          <p:cNvPr id="199" name="Google Shape;199;p20"/>
          <p:cNvPicPr preferRelativeResize="0"/>
          <p:nvPr/>
        </p:nvPicPr>
        <p:blipFill>
          <a:blip r:embed="rId11">
            <a:alphaModFix/>
          </a:blip>
          <a:stretch>
            <a:fillRect/>
          </a:stretch>
        </p:blipFill>
        <p:spPr>
          <a:xfrm>
            <a:off x="5843700" y="3076575"/>
            <a:ext cx="1749675" cy="1729477"/>
          </a:xfrm>
          <a:prstGeom prst="rect">
            <a:avLst/>
          </a:prstGeom>
          <a:noFill/>
          <a:ln>
            <a:noFill/>
          </a:ln>
        </p:spPr>
      </p:pic>
      <p:pic>
        <p:nvPicPr>
          <p:cNvPr id="200" name="Google Shape;200;p20"/>
          <p:cNvPicPr preferRelativeResize="0"/>
          <p:nvPr/>
        </p:nvPicPr>
        <p:blipFill>
          <a:blip r:embed="rId12">
            <a:alphaModFix/>
          </a:blip>
          <a:stretch>
            <a:fillRect/>
          </a:stretch>
        </p:blipFill>
        <p:spPr>
          <a:xfrm>
            <a:off x="1822050" y="227694"/>
            <a:ext cx="244900" cy="185005"/>
          </a:xfrm>
          <a:prstGeom prst="rect">
            <a:avLst/>
          </a:prstGeom>
          <a:noFill/>
          <a:ln>
            <a:noFill/>
          </a:ln>
        </p:spPr>
      </p:pic>
      <p:pic>
        <p:nvPicPr>
          <p:cNvPr id="201" name="Google Shape;201;p20"/>
          <p:cNvPicPr preferRelativeResize="0"/>
          <p:nvPr/>
        </p:nvPicPr>
        <p:blipFill>
          <a:blip r:embed="rId13">
            <a:alphaModFix/>
          </a:blip>
          <a:stretch>
            <a:fillRect/>
          </a:stretch>
        </p:blipFill>
        <p:spPr>
          <a:xfrm>
            <a:off x="765603" y="560663"/>
            <a:ext cx="3588449" cy="2496725"/>
          </a:xfrm>
          <a:prstGeom prst="rect">
            <a:avLst/>
          </a:prstGeom>
          <a:noFill/>
          <a:ln>
            <a:noFill/>
          </a:ln>
        </p:spPr>
      </p:pic>
      <p:sp>
        <p:nvSpPr>
          <p:cNvPr id="202" name="Google Shape;202;p20"/>
          <p:cNvSpPr txBox="1"/>
          <p:nvPr/>
        </p:nvSpPr>
        <p:spPr>
          <a:xfrm>
            <a:off x="6804663" y="949700"/>
            <a:ext cx="1843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2"/>
                </a:solidFill>
              </a:rPr>
              <a:t>Other Methods</a:t>
            </a:r>
            <a:endParaRPr b="1" sz="1000">
              <a:solidFill>
                <a:schemeClr val="dk2"/>
              </a:solidFill>
            </a:endParaRPr>
          </a:p>
        </p:txBody>
      </p:sp>
      <p:sp>
        <p:nvSpPr>
          <p:cNvPr id="203" name="Google Shape;203;p20"/>
          <p:cNvSpPr txBox="1"/>
          <p:nvPr/>
        </p:nvSpPr>
        <p:spPr>
          <a:xfrm>
            <a:off x="6669125" y="1234013"/>
            <a:ext cx="22335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50">
                <a:solidFill>
                  <a:srgbClr val="444746"/>
                </a:solidFill>
                <a:latin typeface="Roboto"/>
                <a:ea typeface="Roboto"/>
                <a:cs typeface="Roboto"/>
                <a:sym typeface="Roboto"/>
              </a:rPr>
              <a:t>Walsh–GWI</a:t>
            </a:r>
            <a:endParaRPr sz="750">
              <a:solidFill>
                <a:srgbClr val="444746"/>
              </a:solidFill>
              <a:latin typeface="Roboto"/>
              <a:ea typeface="Roboto"/>
              <a:cs typeface="Roboto"/>
              <a:sym typeface="Roboto"/>
            </a:endParaRPr>
          </a:p>
          <a:p>
            <a:pPr indent="0" lvl="0" marL="0" rtl="0" algn="ctr">
              <a:spcBef>
                <a:spcPts val="0"/>
              </a:spcBef>
              <a:spcAft>
                <a:spcPts val="0"/>
              </a:spcAft>
              <a:buNone/>
            </a:pPr>
            <a:r>
              <a:rPr lang="en" sz="750">
                <a:solidFill>
                  <a:srgbClr val="444746"/>
                </a:solidFill>
                <a:latin typeface="Roboto"/>
                <a:ea typeface="Roboto"/>
                <a:cs typeface="Roboto"/>
                <a:sym typeface="Roboto"/>
              </a:rPr>
              <a:t>Ribes: Kriging</a:t>
            </a:r>
            <a:endParaRPr sz="750">
              <a:solidFill>
                <a:srgbClr val="444746"/>
              </a:solidFill>
              <a:latin typeface="Roboto"/>
              <a:ea typeface="Roboto"/>
              <a:cs typeface="Roboto"/>
              <a:sym typeface="Roboto"/>
            </a:endParaRPr>
          </a:p>
          <a:p>
            <a:pPr indent="0" lvl="0" marL="0" rtl="0" algn="ctr">
              <a:spcBef>
                <a:spcPts val="0"/>
              </a:spcBef>
              <a:spcAft>
                <a:spcPts val="0"/>
              </a:spcAft>
              <a:buNone/>
            </a:pPr>
            <a:r>
              <a:rPr lang="en" sz="750">
                <a:solidFill>
                  <a:srgbClr val="444746"/>
                </a:solidFill>
                <a:latin typeface="Roboto"/>
                <a:ea typeface="Roboto"/>
                <a:cs typeface="Roboto"/>
                <a:sym typeface="Roboto"/>
              </a:rPr>
              <a:t>Gillett: ROF</a:t>
            </a:r>
            <a:endParaRPr sz="750">
              <a:solidFill>
                <a:srgbClr val="444746"/>
              </a:solidFill>
              <a:latin typeface="Roboto"/>
              <a:ea typeface="Roboto"/>
              <a:cs typeface="Roboto"/>
              <a:sym typeface="Roboto"/>
            </a:endParaRPr>
          </a:p>
          <a:p>
            <a:pPr indent="0" lvl="0" marL="0" rtl="0" algn="ctr">
              <a:spcBef>
                <a:spcPts val="0"/>
              </a:spcBef>
              <a:spcAft>
                <a:spcPts val="0"/>
              </a:spcAft>
              <a:buNone/>
            </a:pPr>
            <a:r>
              <a:t/>
            </a:r>
            <a:endParaRPr sz="750">
              <a:solidFill>
                <a:srgbClr val="444746"/>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21"/>
          <p:cNvPicPr preferRelativeResize="0"/>
          <p:nvPr/>
        </p:nvPicPr>
        <p:blipFill rotWithShape="1">
          <a:blip r:embed="rId4">
            <a:alphaModFix/>
          </a:blip>
          <a:srcRect b="0" l="199" r="189" t="0"/>
          <a:stretch/>
        </p:blipFill>
        <p:spPr>
          <a:xfrm>
            <a:off x="281000" y="3076575"/>
            <a:ext cx="1712995" cy="1723652"/>
          </a:xfrm>
          <a:prstGeom prst="rect">
            <a:avLst/>
          </a:prstGeom>
          <a:noFill/>
          <a:ln>
            <a:noFill/>
          </a:ln>
        </p:spPr>
      </p:pic>
      <p:sp>
        <p:nvSpPr>
          <p:cNvPr id="209" name="Google Shape;209;p21"/>
          <p:cNvSpPr txBox="1"/>
          <p:nvPr/>
        </p:nvSpPr>
        <p:spPr>
          <a:xfrm>
            <a:off x="470625" y="4736700"/>
            <a:ext cx="1300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Crossed: </a:t>
            </a:r>
            <a:r>
              <a:rPr lang="en" sz="1300">
                <a:solidFill>
                  <a:srgbClr val="CB2D20"/>
                </a:solidFill>
              </a:rPr>
              <a:t>1985</a:t>
            </a:r>
            <a:endParaRPr sz="1800">
              <a:solidFill>
                <a:srgbClr val="CB2D20"/>
              </a:solidFill>
            </a:endParaRPr>
          </a:p>
        </p:txBody>
      </p:sp>
      <p:sp>
        <p:nvSpPr>
          <p:cNvPr id="210" name="Google Shape;210;p21"/>
          <p:cNvSpPr txBox="1"/>
          <p:nvPr/>
        </p:nvSpPr>
        <p:spPr>
          <a:xfrm>
            <a:off x="2273338" y="4736700"/>
            <a:ext cx="1300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Crossed: </a:t>
            </a:r>
            <a:r>
              <a:rPr lang="en" sz="1300">
                <a:solidFill>
                  <a:srgbClr val="CB2D20"/>
                </a:solidFill>
              </a:rPr>
              <a:t>2011</a:t>
            </a:r>
            <a:endParaRPr sz="1800">
              <a:solidFill>
                <a:srgbClr val="CB2D20"/>
              </a:solidFill>
            </a:endParaRPr>
          </a:p>
        </p:txBody>
      </p:sp>
      <p:pic>
        <p:nvPicPr>
          <p:cNvPr id="211" name="Google Shape;211;p21"/>
          <p:cNvPicPr preferRelativeResize="0"/>
          <p:nvPr/>
        </p:nvPicPr>
        <p:blipFill>
          <a:blip r:embed="rId5">
            <a:alphaModFix/>
          </a:blip>
          <a:stretch>
            <a:fillRect/>
          </a:stretch>
        </p:blipFill>
        <p:spPr>
          <a:xfrm>
            <a:off x="3852900" y="3076571"/>
            <a:ext cx="1749665" cy="1723649"/>
          </a:xfrm>
          <a:prstGeom prst="rect">
            <a:avLst/>
          </a:prstGeom>
          <a:noFill/>
          <a:ln>
            <a:noFill/>
          </a:ln>
        </p:spPr>
      </p:pic>
      <p:pic>
        <p:nvPicPr>
          <p:cNvPr id="212" name="Google Shape;212;p21"/>
          <p:cNvPicPr preferRelativeResize="0"/>
          <p:nvPr/>
        </p:nvPicPr>
        <p:blipFill>
          <a:blip r:embed="rId6">
            <a:alphaModFix/>
          </a:blip>
          <a:stretch>
            <a:fillRect/>
          </a:stretch>
        </p:blipFill>
        <p:spPr>
          <a:xfrm>
            <a:off x="2066938" y="3087950"/>
            <a:ext cx="1713001" cy="1700901"/>
          </a:xfrm>
          <a:prstGeom prst="rect">
            <a:avLst/>
          </a:prstGeom>
          <a:noFill/>
          <a:ln>
            <a:noFill/>
          </a:ln>
        </p:spPr>
      </p:pic>
      <p:sp>
        <p:nvSpPr>
          <p:cNvPr id="213" name="Google Shape;213;p21"/>
          <p:cNvSpPr txBox="1"/>
          <p:nvPr/>
        </p:nvSpPr>
        <p:spPr>
          <a:xfrm>
            <a:off x="1994000" y="64475"/>
            <a:ext cx="43830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dk2"/>
                </a:solidFill>
              </a:rPr>
              <a:t> EBM-KF Climate System Warming</a:t>
            </a:r>
            <a:endParaRPr b="1" sz="1900">
              <a:solidFill>
                <a:schemeClr val="dk2"/>
              </a:solidFill>
            </a:endParaRPr>
          </a:p>
        </p:txBody>
      </p:sp>
      <p:pic>
        <p:nvPicPr>
          <p:cNvPr id="214" name="Google Shape;214;p21"/>
          <p:cNvPicPr preferRelativeResize="0"/>
          <p:nvPr/>
        </p:nvPicPr>
        <p:blipFill>
          <a:blip r:embed="rId7">
            <a:alphaModFix/>
          </a:blip>
          <a:stretch>
            <a:fillRect/>
          </a:stretch>
        </p:blipFill>
        <p:spPr>
          <a:xfrm>
            <a:off x="5843700" y="3076575"/>
            <a:ext cx="1749675" cy="1729477"/>
          </a:xfrm>
          <a:prstGeom prst="rect">
            <a:avLst/>
          </a:prstGeom>
          <a:noFill/>
          <a:ln>
            <a:noFill/>
          </a:ln>
        </p:spPr>
      </p:pic>
      <p:sp>
        <p:nvSpPr>
          <p:cNvPr id="215" name="Google Shape;215;p21"/>
          <p:cNvSpPr txBox="1"/>
          <p:nvPr/>
        </p:nvSpPr>
        <p:spPr>
          <a:xfrm>
            <a:off x="6758825" y="323225"/>
            <a:ext cx="2091300" cy="213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Key Reference:</a:t>
            </a:r>
            <a:endParaRPr sz="1800">
              <a:solidFill>
                <a:schemeClr val="dk2"/>
              </a:solidFill>
            </a:endParaRPr>
          </a:p>
          <a:p>
            <a:pPr indent="0" lvl="0" marL="0" rtl="0" algn="l">
              <a:spcBef>
                <a:spcPts val="0"/>
              </a:spcBef>
              <a:spcAft>
                <a:spcPts val="0"/>
              </a:spcAft>
              <a:buNone/>
            </a:pPr>
            <a:r>
              <a:rPr lang="en" sz="1800">
                <a:solidFill>
                  <a:schemeClr val="dk2"/>
                </a:solidFill>
              </a:rPr>
              <a:t>Nicklas et al. 2024</a:t>
            </a:r>
            <a:endParaRPr sz="1800">
              <a:solidFill>
                <a:schemeClr val="dk2"/>
              </a:solidFill>
            </a:endParaRPr>
          </a:p>
          <a:p>
            <a:pPr indent="0" lvl="0" marL="0" rtl="0" algn="l">
              <a:spcBef>
                <a:spcPts val="0"/>
              </a:spcBef>
              <a:spcAft>
                <a:spcPts val="0"/>
              </a:spcAft>
              <a:buNone/>
            </a:pPr>
            <a:r>
              <a:rPr lang="en" sz="700" u="sng">
                <a:solidFill>
                  <a:schemeClr val="hlink"/>
                </a:solidFill>
                <a:hlinkClick r:id="rId8"/>
              </a:rPr>
              <a:t>http://dx.doi.org/10.1175/JCLI-D-23-0580.1</a:t>
            </a:r>
            <a:endParaRPr sz="700">
              <a:solidFill>
                <a:schemeClr val="dk2"/>
              </a:solidFill>
            </a:endParaRPr>
          </a:p>
          <a:p>
            <a:pPr indent="0" lvl="0" marL="0" rtl="0" algn="l">
              <a:spcBef>
                <a:spcPts val="0"/>
              </a:spcBef>
              <a:spcAft>
                <a:spcPts val="0"/>
              </a:spcAft>
              <a:buNone/>
            </a:pPr>
            <a:r>
              <a:t/>
            </a:r>
            <a:endParaRPr sz="700">
              <a:solidFill>
                <a:schemeClr val="dk2"/>
              </a:solidFill>
            </a:endParaRPr>
          </a:p>
          <a:p>
            <a:pPr indent="0" lvl="0" marL="0" rtl="0" algn="l">
              <a:spcBef>
                <a:spcPts val="0"/>
              </a:spcBef>
              <a:spcAft>
                <a:spcPts val="0"/>
              </a:spcAft>
              <a:buNone/>
            </a:pPr>
            <a:r>
              <a:rPr lang="en" sz="700">
                <a:solidFill>
                  <a:schemeClr val="dk2"/>
                </a:solidFill>
              </a:rPr>
              <a:t>We present the Energy Balance Model – Kalman Filter (EBM-KF), a hybrid model projecting and assimilating the global mean surface temperature (GMST) and ocean heat content anomaly (OHCA). It combines an annual energy balance model (difference equations) with 17 parameters drawn from the literature and a statistical Extended Kalman Filter assimilating GMST and OHCA, either observed timeseries or simulated by earth system models.</a:t>
            </a:r>
            <a:endParaRPr sz="700">
              <a:solidFill>
                <a:schemeClr val="dk2"/>
              </a:solidFill>
            </a:endParaRPr>
          </a:p>
        </p:txBody>
      </p:sp>
      <p:pic>
        <p:nvPicPr>
          <p:cNvPr id="216" name="Google Shape;216;p21"/>
          <p:cNvPicPr preferRelativeResize="0"/>
          <p:nvPr/>
        </p:nvPicPr>
        <p:blipFill>
          <a:blip r:embed="rId9">
            <a:alphaModFix/>
          </a:blip>
          <a:stretch>
            <a:fillRect/>
          </a:stretch>
        </p:blipFill>
        <p:spPr>
          <a:xfrm>
            <a:off x="4549125" y="541475"/>
            <a:ext cx="2156499" cy="1525125"/>
          </a:xfrm>
          <a:prstGeom prst="rect">
            <a:avLst/>
          </a:prstGeom>
          <a:noFill/>
          <a:ln>
            <a:noFill/>
          </a:ln>
        </p:spPr>
      </p:pic>
      <p:pic>
        <p:nvPicPr>
          <p:cNvPr id="217" name="Google Shape;217;p21"/>
          <p:cNvPicPr preferRelativeResize="0"/>
          <p:nvPr/>
        </p:nvPicPr>
        <p:blipFill rotWithShape="1">
          <a:blip r:embed="rId10">
            <a:alphaModFix/>
          </a:blip>
          <a:srcRect b="0" l="2153" r="0" t="0"/>
          <a:stretch/>
        </p:blipFill>
        <p:spPr>
          <a:xfrm>
            <a:off x="4838750" y="2017350"/>
            <a:ext cx="1560749" cy="1108800"/>
          </a:xfrm>
          <a:prstGeom prst="rect">
            <a:avLst/>
          </a:prstGeom>
          <a:noFill/>
          <a:ln>
            <a:noFill/>
          </a:ln>
        </p:spPr>
      </p:pic>
      <p:pic>
        <p:nvPicPr>
          <p:cNvPr id="218" name="Google Shape;218;p21"/>
          <p:cNvPicPr preferRelativeResize="0"/>
          <p:nvPr/>
        </p:nvPicPr>
        <p:blipFill>
          <a:blip r:embed="rId11">
            <a:alphaModFix/>
          </a:blip>
          <a:stretch>
            <a:fillRect/>
          </a:stretch>
        </p:blipFill>
        <p:spPr>
          <a:xfrm>
            <a:off x="1994000" y="619125"/>
            <a:ext cx="2666874" cy="2334150"/>
          </a:xfrm>
          <a:prstGeom prst="rect">
            <a:avLst/>
          </a:prstGeom>
          <a:noFill/>
          <a:ln>
            <a:noFill/>
          </a:ln>
        </p:spPr>
      </p:pic>
      <p:pic>
        <p:nvPicPr>
          <p:cNvPr id="219" name="Google Shape;219;p21"/>
          <p:cNvPicPr preferRelativeResize="0"/>
          <p:nvPr/>
        </p:nvPicPr>
        <p:blipFill>
          <a:blip r:embed="rId12">
            <a:alphaModFix/>
          </a:blip>
          <a:stretch>
            <a:fillRect/>
          </a:stretch>
        </p:blipFill>
        <p:spPr>
          <a:xfrm>
            <a:off x="303550" y="448775"/>
            <a:ext cx="2489158" cy="2152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5" name="Google Shape;22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23"/>
          <p:cNvPicPr preferRelativeResize="0"/>
          <p:nvPr/>
        </p:nvPicPr>
        <p:blipFill>
          <a:blip r:embed="rId3">
            <a:alphaModFix/>
          </a:blip>
          <a:stretch>
            <a:fillRect/>
          </a:stretch>
        </p:blipFill>
        <p:spPr>
          <a:xfrm>
            <a:off x="0" y="0"/>
            <a:ext cx="3780251" cy="2013426"/>
          </a:xfrm>
          <a:prstGeom prst="rect">
            <a:avLst/>
          </a:prstGeom>
          <a:noFill/>
          <a:ln>
            <a:noFill/>
          </a:ln>
        </p:spPr>
      </p:pic>
      <p:pic>
        <p:nvPicPr>
          <p:cNvPr id="231" name="Google Shape;231;p23"/>
          <p:cNvPicPr preferRelativeResize="0"/>
          <p:nvPr/>
        </p:nvPicPr>
        <p:blipFill rotWithShape="1">
          <a:blip r:embed="rId4">
            <a:alphaModFix/>
          </a:blip>
          <a:srcRect b="31950" l="0" r="30738" t="0"/>
          <a:stretch/>
        </p:blipFill>
        <p:spPr>
          <a:xfrm>
            <a:off x="4120975" y="0"/>
            <a:ext cx="4231723" cy="2338651"/>
          </a:xfrm>
          <a:prstGeom prst="rect">
            <a:avLst/>
          </a:prstGeom>
          <a:noFill/>
          <a:ln>
            <a:noFill/>
          </a:ln>
        </p:spPr>
      </p:pic>
      <p:pic>
        <p:nvPicPr>
          <p:cNvPr id="232" name="Google Shape;232;p23"/>
          <p:cNvPicPr preferRelativeResize="0"/>
          <p:nvPr/>
        </p:nvPicPr>
        <p:blipFill>
          <a:blip r:embed="rId5">
            <a:alphaModFix/>
          </a:blip>
          <a:stretch>
            <a:fillRect/>
          </a:stretch>
        </p:blipFill>
        <p:spPr>
          <a:xfrm>
            <a:off x="219625" y="2385701"/>
            <a:ext cx="3815276" cy="2500049"/>
          </a:xfrm>
          <a:prstGeom prst="rect">
            <a:avLst/>
          </a:prstGeom>
          <a:noFill/>
          <a:ln>
            <a:noFill/>
          </a:ln>
        </p:spPr>
      </p:pic>
      <p:pic>
        <p:nvPicPr>
          <p:cNvPr id="233" name="Google Shape;233;p23"/>
          <p:cNvPicPr preferRelativeResize="0"/>
          <p:nvPr/>
        </p:nvPicPr>
        <p:blipFill>
          <a:blip r:embed="rId6">
            <a:alphaModFix/>
          </a:blip>
          <a:stretch>
            <a:fillRect/>
          </a:stretch>
        </p:blipFill>
        <p:spPr>
          <a:xfrm>
            <a:off x="4987376" y="2338651"/>
            <a:ext cx="2959385" cy="25000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4"/>
          <p:cNvSpPr txBox="1"/>
          <p:nvPr>
            <p:ph type="title"/>
          </p:nvPr>
        </p:nvSpPr>
        <p:spPr>
          <a:xfrm>
            <a:off x="270550" y="0"/>
            <a:ext cx="2379300" cy="60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520"/>
              <a:t>C</a:t>
            </a:r>
            <a:r>
              <a:rPr b="1" lang="en" sz="1520"/>
              <a:t>limate system warming</a:t>
            </a:r>
            <a:endParaRPr b="1" sz="1520"/>
          </a:p>
        </p:txBody>
      </p:sp>
      <p:sp>
        <p:nvSpPr>
          <p:cNvPr id="239" name="Google Shape;239;p24"/>
          <p:cNvSpPr txBox="1"/>
          <p:nvPr>
            <p:ph idx="1" type="body"/>
          </p:nvPr>
        </p:nvSpPr>
        <p:spPr>
          <a:xfrm>
            <a:off x="265225" y="515550"/>
            <a:ext cx="2338200" cy="12240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None/>
            </a:pPr>
            <a:r>
              <a:rPr b="1" lang="en"/>
              <a:t>Current global warming level 2023</a:t>
            </a:r>
            <a:endParaRPr b="1"/>
          </a:p>
          <a:p>
            <a:pPr indent="0" lvl="0" marL="0" rtl="0" algn="l">
              <a:lnSpc>
                <a:spcPct val="100000"/>
              </a:lnSpc>
              <a:spcBef>
                <a:spcPts val="0"/>
              </a:spcBef>
              <a:spcAft>
                <a:spcPts val="0"/>
              </a:spcAft>
              <a:buNone/>
            </a:pPr>
            <a:r>
              <a:rPr lang="en"/>
              <a:t>1.3 </a:t>
            </a:r>
            <a:r>
              <a:rPr lang="en" sz="1500">
                <a:solidFill>
                  <a:srgbClr val="040C28"/>
                </a:solidFill>
                <a:highlight>
                  <a:srgbClr val="FFFFFF"/>
                </a:highlight>
              </a:rPr>
              <a:t>°</a:t>
            </a:r>
            <a:r>
              <a:rPr lang="en"/>
              <a:t>C [1.2 - 1.4, 95% uncertainty range]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It is exceptionally unlikely that global warming has exceeded 1.5</a:t>
            </a:r>
            <a:r>
              <a:rPr lang="en" sz="1500">
                <a:solidFill>
                  <a:srgbClr val="040C28"/>
                </a:solidFill>
                <a:highlight>
                  <a:srgbClr val="FFFFFF"/>
                </a:highlight>
              </a:rPr>
              <a:t>°</a:t>
            </a:r>
            <a:r>
              <a:rPr lang="en"/>
              <a:t>C</a:t>
            </a:r>
            <a:endParaRPr/>
          </a:p>
          <a:p>
            <a:pPr indent="0" lvl="0" marL="0" rtl="0" algn="l">
              <a:lnSpc>
                <a:spcPct val="100000"/>
              </a:lnSpc>
              <a:spcBef>
                <a:spcPts val="0"/>
              </a:spcBef>
              <a:spcAft>
                <a:spcPts val="0"/>
              </a:spcAft>
              <a:buNone/>
            </a:pPr>
            <a:r>
              <a:t/>
            </a:r>
            <a:endParaRPr/>
          </a:p>
        </p:txBody>
      </p:sp>
      <p:pic>
        <p:nvPicPr>
          <p:cNvPr id="240" name="Google Shape;240;p24"/>
          <p:cNvPicPr preferRelativeResize="0"/>
          <p:nvPr/>
        </p:nvPicPr>
        <p:blipFill>
          <a:blip r:embed="rId3">
            <a:alphaModFix/>
          </a:blip>
          <a:stretch>
            <a:fillRect/>
          </a:stretch>
        </p:blipFill>
        <p:spPr>
          <a:xfrm>
            <a:off x="311675" y="1506799"/>
            <a:ext cx="2215550" cy="2498000"/>
          </a:xfrm>
          <a:prstGeom prst="rect">
            <a:avLst/>
          </a:prstGeom>
          <a:noFill/>
          <a:ln>
            <a:noFill/>
          </a:ln>
        </p:spPr>
      </p:pic>
      <p:pic>
        <p:nvPicPr>
          <p:cNvPr id="241" name="Google Shape;241;p24"/>
          <p:cNvPicPr preferRelativeResize="0"/>
          <p:nvPr/>
        </p:nvPicPr>
        <p:blipFill>
          <a:blip r:embed="rId4">
            <a:alphaModFix/>
          </a:blip>
          <a:stretch>
            <a:fillRect/>
          </a:stretch>
        </p:blipFill>
        <p:spPr>
          <a:xfrm>
            <a:off x="270538" y="4184146"/>
            <a:ext cx="2297824" cy="1223879"/>
          </a:xfrm>
          <a:prstGeom prst="rect">
            <a:avLst/>
          </a:prstGeom>
          <a:noFill/>
          <a:ln>
            <a:noFill/>
          </a:ln>
        </p:spPr>
      </p:pic>
      <p:sp>
        <p:nvSpPr>
          <p:cNvPr id="242" name="Google Shape;242;p24"/>
          <p:cNvSpPr txBox="1"/>
          <p:nvPr/>
        </p:nvSpPr>
        <p:spPr>
          <a:xfrm>
            <a:off x="250350" y="3858050"/>
            <a:ext cx="2338200" cy="32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u="sng">
                <a:solidFill>
                  <a:schemeClr val="dk2"/>
                </a:solidFill>
              </a:rPr>
              <a:t>Download data</a:t>
            </a:r>
            <a:r>
              <a:rPr lang="en" sz="900">
                <a:solidFill>
                  <a:schemeClr val="dk2"/>
                </a:solidFill>
              </a:rPr>
              <a:t> - </a:t>
            </a:r>
            <a:r>
              <a:rPr lang="en" sz="900" u="sng">
                <a:solidFill>
                  <a:schemeClr val="dk2"/>
                </a:solidFill>
              </a:rPr>
              <a:t>Explore lines of evidence</a:t>
            </a:r>
            <a:endParaRPr sz="900" u="sng">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5"/>
          <p:cNvSpPr/>
          <p:nvPr/>
        </p:nvSpPr>
        <p:spPr>
          <a:xfrm>
            <a:off x="1985975" y="3471875"/>
            <a:ext cx="838200" cy="376200"/>
          </a:xfrm>
          <a:prstGeom prst="rect">
            <a:avLst/>
          </a:prstGeom>
          <a:solidFill>
            <a:srgbClr val="999999"/>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25"/>
          <p:cNvSpPr/>
          <p:nvPr/>
        </p:nvSpPr>
        <p:spPr>
          <a:xfrm>
            <a:off x="900125" y="595325"/>
            <a:ext cx="3009900" cy="30147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25"/>
          <p:cNvSpPr/>
          <p:nvPr/>
        </p:nvSpPr>
        <p:spPr>
          <a:xfrm>
            <a:off x="2224100" y="3848075"/>
            <a:ext cx="352500" cy="328500"/>
          </a:xfrm>
          <a:prstGeom prst="rect">
            <a:avLst/>
          </a:prstGeom>
          <a:solidFill>
            <a:srgbClr val="BF9000"/>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25"/>
          <p:cNvSpPr/>
          <p:nvPr/>
        </p:nvSpPr>
        <p:spPr>
          <a:xfrm>
            <a:off x="2257550" y="1970525"/>
            <a:ext cx="285600" cy="264300"/>
          </a:xfrm>
          <a:prstGeom prst="ellipse">
            <a:avLst/>
          </a:prstGeom>
          <a:solidFill>
            <a:schemeClr val="lt1"/>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 name="Google Shape;251;p25"/>
          <p:cNvSpPr/>
          <p:nvPr/>
        </p:nvSpPr>
        <p:spPr>
          <a:xfrm>
            <a:off x="2262275" y="2909300"/>
            <a:ext cx="285600" cy="264300"/>
          </a:xfrm>
          <a:prstGeom prst="ellipse">
            <a:avLst/>
          </a:prstGeom>
          <a:solidFill>
            <a:schemeClr val="lt1"/>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25"/>
          <p:cNvSpPr/>
          <p:nvPr/>
        </p:nvSpPr>
        <p:spPr>
          <a:xfrm rot="-5396389">
            <a:off x="2262273" y="635678"/>
            <a:ext cx="285600" cy="204900"/>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25"/>
          <p:cNvSpPr txBox="1"/>
          <p:nvPr/>
        </p:nvSpPr>
        <p:spPr>
          <a:xfrm>
            <a:off x="1821575" y="133625"/>
            <a:ext cx="1167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As Likely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As Not</a:t>
            </a:r>
            <a:endParaRPr b="1" sz="900">
              <a:solidFill>
                <a:schemeClr val="dk2"/>
              </a:solidFill>
              <a:latin typeface="Comfortaa"/>
              <a:ea typeface="Comfortaa"/>
              <a:cs typeface="Comfortaa"/>
              <a:sym typeface="Comfortaa"/>
            </a:endParaRPr>
          </a:p>
        </p:txBody>
      </p:sp>
      <p:sp>
        <p:nvSpPr>
          <p:cNvPr id="254" name="Google Shape;254;p25"/>
          <p:cNvSpPr/>
          <p:nvPr/>
        </p:nvSpPr>
        <p:spPr>
          <a:xfrm rot="-4159024">
            <a:off x="1757586" y="3293159"/>
            <a:ext cx="285394" cy="204775"/>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25"/>
          <p:cNvSpPr/>
          <p:nvPr/>
        </p:nvSpPr>
        <p:spPr>
          <a:xfrm rot="-6396419">
            <a:off x="2744781" y="3293090"/>
            <a:ext cx="285509" cy="204908"/>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25"/>
          <p:cNvSpPr txBox="1"/>
          <p:nvPr/>
        </p:nvSpPr>
        <p:spPr>
          <a:xfrm>
            <a:off x="2857500" y="3471875"/>
            <a:ext cx="814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Virtually</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Certain</a:t>
            </a:r>
            <a:endParaRPr b="1" sz="900">
              <a:solidFill>
                <a:schemeClr val="dk2"/>
              </a:solidFill>
              <a:latin typeface="Comfortaa"/>
              <a:ea typeface="Comfortaa"/>
              <a:cs typeface="Comfortaa"/>
              <a:sym typeface="Comfortaa"/>
            </a:endParaRPr>
          </a:p>
        </p:txBody>
      </p:sp>
      <p:sp>
        <p:nvSpPr>
          <p:cNvPr id="257" name="Google Shape;257;p25"/>
          <p:cNvSpPr txBox="1"/>
          <p:nvPr/>
        </p:nvSpPr>
        <p:spPr>
          <a:xfrm>
            <a:off x="900125" y="3471875"/>
            <a:ext cx="990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Exceptionally</a:t>
            </a:r>
            <a:r>
              <a:rPr b="1" lang="en" sz="900">
                <a:solidFill>
                  <a:schemeClr val="dk2"/>
                </a:solidFill>
                <a:latin typeface="Comfortaa"/>
                <a:ea typeface="Comfortaa"/>
                <a:cs typeface="Comfortaa"/>
                <a:sym typeface="Comfortaa"/>
              </a:rPr>
              <a:t>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Unlikely</a:t>
            </a:r>
            <a:endParaRPr b="1" sz="900">
              <a:solidFill>
                <a:schemeClr val="dk2"/>
              </a:solidFill>
              <a:latin typeface="Comfortaa"/>
              <a:ea typeface="Comfortaa"/>
              <a:cs typeface="Comfortaa"/>
              <a:sym typeface="Comfortaa"/>
            </a:endParaRPr>
          </a:p>
        </p:txBody>
      </p:sp>
      <p:sp>
        <p:nvSpPr>
          <p:cNvPr id="258" name="Google Shape;258;p25"/>
          <p:cNvSpPr/>
          <p:nvPr/>
        </p:nvSpPr>
        <p:spPr>
          <a:xfrm rot="10845">
            <a:off x="862254" y="2000234"/>
            <a:ext cx="285301" cy="204900"/>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25"/>
          <p:cNvSpPr/>
          <p:nvPr/>
        </p:nvSpPr>
        <p:spPr>
          <a:xfrm flipH="1" rot="1903081">
            <a:off x="3421767" y="2736280"/>
            <a:ext cx="285313" cy="204951"/>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25"/>
          <p:cNvSpPr txBox="1"/>
          <p:nvPr/>
        </p:nvSpPr>
        <p:spPr>
          <a:xfrm>
            <a:off x="399700" y="2785300"/>
            <a:ext cx="990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Very</a:t>
            </a:r>
            <a:r>
              <a:rPr b="1" lang="en" sz="900">
                <a:solidFill>
                  <a:schemeClr val="dk2"/>
                </a:solidFill>
                <a:latin typeface="Comfortaa"/>
                <a:ea typeface="Comfortaa"/>
                <a:cs typeface="Comfortaa"/>
                <a:sym typeface="Comfortaa"/>
              </a:rPr>
              <a:t>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Unlikely</a:t>
            </a:r>
            <a:endParaRPr b="1" sz="900">
              <a:solidFill>
                <a:schemeClr val="dk2"/>
              </a:solidFill>
              <a:latin typeface="Comfortaa"/>
              <a:ea typeface="Comfortaa"/>
              <a:cs typeface="Comfortaa"/>
              <a:sym typeface="Comfortaa"/>
            </a:endParaRPr>
          </a:p>
        </p:txBody>
      </p:sp>
      <p:sp>
        <p:nvSpPr>
          <p:cNvPr id="261" name="Google Shape;261;p25"/>
          <p:cNvSpPr txBox="1"/>
          <p:nvPr/>
        </p:nvSpPr>
        <p:spPr>
          <a:xfrm>
            <a:off x="48700" y="1941125"/>
            <a:ext cx="990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Unlikely</a:t>
            </a:r>
            <a:endParaRPr b="1" sz="900">
              <a:solidFill>
                <a:schemeClr val="dk2"/>
              </a:solidFill>
              <a:latin typeface="Comfortaa"/>
              <a:ea typeface="Comfortaa"/>
              <a:cs typeface="Comfortaa"/>
              <a:sym typeface="Comfortaa"/>
            </a:endParaRPr>
          </a:p>
        </p:txBody>
      </p:sp>
      <p:sp>
        <p:nvSpPr>
          <p:cNvPr id="262" name="Google Shape;262;p25"/>
          <p:cNvSpPr txBox="1"/>
          <p:nvPr/>
        </p:nvSpPr>
        <p:spPr>
          <a:xfrm>
            <a:off x="3390950" y="2785300"/>
            <a:ext cx="990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Very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Likely</a:t>
            </a:r>
            <a:endParaRPr b="1" sz="900">
              <a:solidFill>
                <a:schemeClr val="dk2"/>
              </a:solidFill>
              <a:latin typeface="Comfortaa"/>
              <a:ea typeface="Comfortaa"/>
              <a:cs typeface="Comfortaa"/>
              <a:sym typeface="Comfortaa"/>
            </a:endParaRPr>
          </a:p>
        </p:txBody>
      </p:sp>
      <p:sp>
        <p:nvSpPr>
          <p:cNvPr id="263" name="Google Shape;263;p25"/>
          <p:cNvSpPr txBox="1"/>
          <p:nvPr/>
        </p:nvSpPr>
        <p:spPr>
          <a:xfrm>
            <a:off x="3669875" y="1941125"/>
            <a:ext cx="990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L</a:t>
            </a:r>
            <a:r>
              <a:rPr b="1" lang="en" sz="900">
                <a:solidFill>
                  <a:schemeClr val="dk2"/>
                </a:solidFill>
                <a:latin typeface="Comfortaa"/>
                <a:ea typeface="Comfortaa"/>
                <a:cs typeface="Comfortaa"/>
                <a:sym typeface="Comfortaa"/>
              </a:rPr>
              <a:t>ikely</a:t>
            </a:r>
            <a:endParaRPr b="1" sz="900">
              <a:solidFill>
                <a:schemeClr val="dk2"/>
              </a:solidFill>
              <a:latin typeface="Comfortaa"/>
              <a:ea typeface="Comfortaa"/>
              <a:cs typeface="Comfortaa"/>
              <a:sym typeface="Comfortaa"/>
            </a:endParaRPr>
          </a:p>
        </p:txBody>
      </p:sp>
      <p:sp>
        <p:nvSpPr>
          <p:cNvPr id="264" name="Google Shape;264;p25"/>
          <p:cNvSpPr txBox="1"/>
          <p:nvPr/>
        </p:nvSpPr>
        <p:spPr>
          <a:xfrm rot="3380715">
            <a:off x="1057911" y="2533471"/>
            <a:ext cx="675043" cy="41544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0.1</a:t>
            </a:r>
            <a:endParaRPr b="1" sz="1500">
              <a:solidFill>
                <a:schemeClr val="dk2"/>
              </a:solidFill>
            </a:endParaRPr>
          </a:p>
        </p:txBody>
      </p:sp>
      <p:sp>
        <p:nvSpPr>
          <p:cNvPr id="265" name="Google Shape;265;p25"/>
          <p:cNvSpPr txBox="1"/>
          <p:nvPr/>
        </p:nvSpPr>
        <p:spPr>
          <a:xfrm rot="-1048621">
            <a:off x="2589808" y="2953370"/>
            <a:ext cx="675272" cy="415682"/>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rPr>
              <a:t>0.99</a:t>
            </a:r>
            <a:endParaRPr b="1" sz="1500">
              <a:solidFill>
                <a:schemeClr val="dk2"/>
              </a:solidFill>
            </a:endParaRPr>
          </a:p>
        </p:txBody>
      </p:sp>
      <p:sp>
        <p:nvSpPr>
          <p:cNvPr id="266" name="Google Shape;266;p25"/>
          <p:cNvSpPr txBox="1"/>
          <p:nvPr/>
        </p:nvSpPr>
        <p:spPr>
          <a:xfrm rot="1214774">
            <a:off x="1737482" y="3046510"/>
            <a:ext cx="675326" cy="415454"/>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rPr>
              <a:t>0.01</a:t>
            </a:r>
            <a:endParaRPr b="1" sz="1500">
              <a:solidFill>
                <a:schemeClr val="dk2"/>
              </a:solidFill>
            </a:endParaRPr>
          </a:p>
        </p:txBody>
      </p:sp>
      <p:sp>
        <p:nvSpPr>
          <p:cNvPr id="267" name="Google Shape;267;p25"/>
          <p:cNvSpPr txBox="1"/>
          <p:nvPr/>
        </p:nvSpPr>
        <p:spPr>
          <a:xfrm rot="-3410371">
            <a:off x="3047353" y="2509670"/>
            <a:ext cx="675154" cy="41545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0.9</a:t>
            </a:r>
            <a:endParaRPr b="1" sz="1500">
              <a:solidFill>
                <a:schemeClr val="dk2"/>
              </a:solidFill>
            </a:endParaRPr>
          </a:p>
        </p:txBody>
      </p:sp>
      <p:sp>
        <p:nvSpPr>
          <p:cNvPr id="268" name="Google Shape;268;p25"/>
          <p:cNvSpPr txBox="1"/>
          <p:nvPr/>
        </p:nvSpPr>
        <p:spPr>
          <a:xfrm rot="5401527">
            <a:off x="909406" y="1945557"/>
            <a:ext cx="675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0.33</a:t>
            </a:r>
            <a:endParaRPr b="1" sz="1500">
              <a:solidFill>
                <a:schemeClr val="dk2"/>
              </a:solidFill>
            </a:endParaRPr>
          </a:p>
        </p:txBody>
      </p:sp>
      <p:sp>
        <p:nvSpPr>
          <p:cNvPr id="269" name="Google Shape;269;p25"/>
          <p:cNvSpPr txBox="1"/>
          <p:nvPr/>
        </p:nvSpPr>
        <p:spPr>
          <a:xfrm rot="-5400000">
            <a:off x="3253145" y="1848672"/>
            <a:ext cx="675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0.66</a:t>
            </a:r>
            <a:endParaRPr b="1" sz="1500">
              <a:solidFill>
                <a:schemeClr val="dk2"/>
              </a:solidFill>
            </a:endParaRPr>
          </a:p>
        </p:txBody>
      </p:sp>
      <p:sp>
        <p:nvSpPr>
          <p:cNvPr id="270" name="Google Shape;270;p25"/>
          <p:cNvSpPr txBox="1"/>
          <p:nvPr/>
        </p:nvSpPr>
        <p:spPr>
          <a:xfrm rot="1527">
            <a:off x="2062547" y="778819"/>
            <a:ext cx="675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0.5</a:t>
            </a:r>
            <a:endParaRPr b="1" sz="1500">
              <a:solidFill>
                <a:schemeClr val="dk2"/>
              </a:solidFill>
            </a:endParaRPr>
          </a:p>
        </p:txBody>
      </p:sp>
      <p:sp>
        <p:nvSpPr>
          <p:cNvPr id="271" name="Google Shape;271;p25"/>
          <p:cNvSpPr/>
          <p:nvPr/>
        </p:nvSpPr>
        <p:spPr>
          <a:xfrm rot="10845">
            <a:off x="3653154" y="2000234"/>
            <a:ext cx="285301" cy="204900"/>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2" name="Google Shape;272;p25"/>
          <p:cNvSpPr/>
          <p:nvPr/>
        </p:nvSpPr>
        <p:spPr>
          <a:xfrm rot="-1903081">
            <a:off x="1072142" y="2736255"/>
            <a:ext cx="285313" cy="204951"/>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25"/>
          <p:cNvSpPr txBox="1"/>
          <p:nvPr/>
        </p:nvSpPr>
        <p:spPr>
          <a:xfrm>
            <a:off x="809625" y="3095625"/>
            <a:ext cx="274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274" name="Google Shape;274;p25"/>
          <p:cNvSpPr txBox="1"/>
          <p:nvPr/>
        </p:nvSpPr>
        <p:spPr>
          <a:xfrm>
            <a:off x="1830225" y="1366988"/>
            <a:ext cx="1121400" cy="1400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2"/>
                </a:solidFill>
                <a:latin typeface="Comfortaa"/>
                <a:ea typeface="Comfortaa"/>
                <a:cs typeface="Comfortaa"/>
                <a:sym typeface="Comfortaa"/>
              </a:rPr>
              <a:t>Probability</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1100">
                <a:solidFill>
                  <a:schemeClr val="dk2"/>
                </a:solidFill>
                <a:latin typeface="Comfortaa"/>
                <a:ea typeface="Comfortaa"/>
                <a:cs typeface="Comfortaa"/>
                <a:sym typeface="Comfortaa"/>
              </a:rPr>
              <a:t>of crossing</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2400">
                <a:solidFill>
                  <a:schemeClr val="dk2"/>
                </a:solidFill>
                <a:latin typeface="Comfortaa"/>
                <a:ea typeface="Comfortaa"/>
                <a:cs typeface="Comfortaa"/>
                <a:sym typeface="Comfortaa"/>
              </a:rPr>
              <a:t>0.5 °C</a:t>
            </a:r>
            <a:endParaRPr b="1" sz="2400">
              <a:solidFill>
                <a:schemeClr val="dk2"/>
              </a:solidFill>
              <a:latin typeface="Comfortaa"/>
              <a:ea typeface="Comfortaa"/>
              <a:cs typeface="Comfortaa"/>
              <a:sym typeface="Comfortaa"/>
            </a:endParaRPr>
          </a:p>
        </p:txBody>
      </p:sp>
      <p:cxnSp>
        <p:nvCxnSpPr>
          <p:cNvPr id="275" name="Google Shape;275;p25"/>
          <p:cNvCxnSpPr/>
          <p:nvPr/>
        </p:nvCxnSpPr>
        <p:spPr>
          <a:xfrm>
            <a:off x="2443175" y="2252675"/>
            <a:ext cx="210600" cy="921600"/>
          </a:xfrm>
          <a:prstGeom prst="straightConnector1">
            <a:avLst/>
          </a:prstGeom>
          <a:noFill/>
          <a:ln cap="flat" cmpd="sng" w="76200">
            <a:solidFill>
              <a:schemeClr val="dk1"/>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6"/>
          <p:cNvSpPr/>
          <p:nvPr/>
        </p:nvSpPr>
        <p:spPr>
          <a:xfrm>
            <a:off x="1985975" y="3471875"/>
            <a:ext cx="838200" cy="376200"/>
          </a:xfrm>
          <a:prstGeom prst="rect">
            <a:avLst/>
          </a:prstGeom>
          <a:solidFill>
            <a:srgbClr val="999999"/>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26"/>
          <p:cNvSpPr/>
          <p:nvPr/>
        </p:nvSpPr>
        <p:spPr>
          <a:xfrm>
            <a:off x="900125" y="595325"/>
            <a:ext cx="3009900" cy="30147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26"/>
          <p:cNvSpPr/>
          <p:nvPr/>
        </p:nvSpPr>
        <p:spPr>
          <a:xfrm>
            <a:off x="2224100" y="3848075"/>
            <a:ext cx="352500" cy="328500"/>
          </a:xfrm>
          <a:prstGeom prst="rect">
            <a:avLst/>
          </a:prstGeom>
          <a:solidFill>
            <a:srgbClr val="BF9000"/>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26"/>
          <p:cNvSpPr/>
          <p:nvPr/>
        </p:nvSpPr>
        <p:spPr>
          <a:xfrm>
            <a:off x="2257550" y="1970525"/>
            <a:ext cx="285600" cy="264300"/>
          </a:xfrm>
          <a:prstGeom prst="ellipse">
            <a:avLst/>
          </a:prstGeom>
          <a:solidFill>
            <a:schemeClr val="lt1"/>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26"/>
          <p:cNvSpPr/>
          <p:nvPr/>
        </p:nvSpPr>
        <p:spPr>
          <a:xfrm>
            <a:off x="2262275" y="2909300"/>
            <a:ext cx="285600" cy="264300"/>
          </a:xfrm>
          <a:prstGeom prst="ellipse">
            <a:avLst/>
          </a:prstGeom>
          <a:solidFill>
            <a:schemeClr val="lt1"/>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26"/>
          <p:cNvSpPr/>
          <p:nvPr/>
        </p:nvSpPr>
        <p:spPr>
          <a:xfrm rot="-5396389">
            <a:off x="2262273" y="635678"/>
            <a:ext cx="285600" cy="204900"/>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26"/>
          <p:cNvSpPr txBox="1"/>
          <p:nvPr/>
        </p:nvSpPr>
        <p:spPr>
          <a:xfrm>
            <a:off x="1821575" y="133625"/>
            <a:ext cx="1167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As Likely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As Not</a:t>
            </a:r>
            <a:endParaRPr b="1" sz="900">
              <a:solidFill>
                <a:schemeClr val="dk2"/>
              </a:solidFill>
              <a:latin typeface="Comfortaa"/>
              <a:ea typeface="Comfortaa"/>
              <a:cs typeface="Comfortaa"/>
              <a:sym typeface="Comfortaa"/>
            </a:endParaRPr>
          </a:p>
        </p:txBody>
      </p:sp>
      <p:sp>
        <p:nvSpPr>
          <p:cNvPr id="287" name="Google Shape;287;p26"/>
          <p:cNvSpPr/>
          <p:nvPr/>
        </p:nvSpPr>
        <p:spPr>
          <a:xfrm rot="-4159024">
            <a:off x="1757586" y="3293159"/>
            <a:ext cx="285394" cy="204775"/>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 name="Google Shape;288;p26"/>
          <p:cNvSpPr/>
          <p:nvPr/>
        </p:nvSpPr>
        <p:spPr>
          <a:xfrm rot="-6396419">
            <a:off x="2744781" y="3293090"/>
            <a:ext cx="285509" cy="204908"/>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9" name="Google Shape;289;p26"/>
          <p:cNvSpPr txBox="1"/>
          <p:nvPr/>
        </p:nvSpPr>
        <p:spPr>
          <a:xfrm>
            <a:off x="2857500" y="3471875"/>
            <a:ext cx="814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Virtually</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Certain</a:t>
            </a:r>
            <a:endParaRPr b="1" sz="900">
              <a:solidFill>
                <a:schemeClr val="dk2"/>
              </a:solidFill>
              <a:latin typeface="Comfortaa"/>
              <a:ea typeface="Comfortaa"/>
              <a:cs typeface="Comfortaa"/>
              <a:sym typeface="Comfortaa"/>
            </a:endParaRPr>
          </a:p>
        </p:txBody>
      </p:sp>
      <p:sp>
        <p:nvSpPr>
          <p:cNvPr id="290" name="Google Shape;290;p26"/>
          <p:cNvSpPr txBox="1"/>
          <p:nvPr/>
        </p:nvSpPr>
        <p:spPr>
          <a:xfrm>
            <a:off x="900125" y="3471875"/>
            <a:ext cx="990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Exceptionally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Unlikely</a:t>
            </a:r>
            <a:endParaRPr b="1" sz="900">
              <a:solidFill>
                <a:schemeClr val="dk2"/>
              </a:solidFill>
              <a:latin typeface="Comfortaa"/>
              <a:ea typeface="Comfortaa"/>
              <a:cs typeface="Comfortaa"/>
              <a:sym typeface="Comfortaa"/>
            </a:endParaRPr>
          </a:p>
        </p:txBody>
      </p:sp>
      <p:sp>
        <p:nvSpPr>
          <p:cNvPr id="291" name="Google Shape;291;p26"/>
          <p:cNvSpPr/>
          <p:nvPr/>
        </p:nvSpPr>
        <p:spPr>
          <a:xfrm rot="10845">
            <a:off x="862254" y="2000234"/>
            <a:ext cx="285301" cy="204900"/>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26"/>
          <p:cNvSpPr/>
          <p:nvPr/>
        </p:nvSpPr>
        <p:spPr>
          <a:xfrm flipH="1" rot="1903081">
            <a:off x="3421767" y="2736280"/>
            <a:ext cx="285313" cy="204951"/>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p26"/>
          <p:cNvSpPr txBox="1"/>
          <p:nvPr/>
        </p:nvSpPr>
        <p:spPr>
          <a:xfrm>
            <a:off x="399700" y="2785300"/>
            <a:ext cx="990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Very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Unlikely</a:t>
            </a:r>
            <a:endParaRPr b="1" sz="900">
              <a:solidFill>
                <a:schemeClr val="dk2"/>
              </a:solidFill>
              <a:latin typeface="Comfortaa"/>
              <a:ea typeface="Comfortaa"/>
              <a:cs typeface="Comfortaa"/>
              <a:sym typeface="Comfortaa"/>
            </a:endParaRPr>
          </a:p>
        </p:txBody>
      </p:sp>
      <p:sp>
        <p:nvSpPr>
          <p:cNvPr id="294" name="Google Shape;294;p26"/>
          <p:cNvSpPr txBox="1"/>
          <p:nvPr/>
        </p:nvSpPr>
        <p:spPr>
          <a:xfrm>
            <a:off x="48700" y="1941125"/>
            <a:ext cx="990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Unlikely</a:t>
            </a:r>
            <a:endParaRPr b="1" sz="900">
              <a:solidFill>
                <a:schemeClr val="dk2"/>
              </a:solidFill>
              <a:latin typeface="Comfortaa"/>
              <a:ea typeface="Comfortaa"/>
              <a:cs typeface="Comfortaa"/>
              <a:sym typeface="Comfortaa"/>
            </a:endParaRPr>
          </a:p>
        </p:txBody>
      </p:sp>
      <p:sp>
        <p:nvSpPr>
          <p:cNvPr id="295" name="Google Shape;295;p26"/>
          <p:cNvSpPr txBox="1"/>
          <p:nvPr/>
        </p:nvSpPr>
        <p:spPr>
          <a:xfrm>
            <a:off x="3390950" y="2785300"/>
            <a:ext cx="990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Very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Likely</a:t>
            </a:r>
            <a:endParaRPr b="1" sz="900">
              <a:solidFill>
                <a:schemeClr val="dk2"/>
              </a:solidFill>
              <a:latin typeface="Comfortaa"/>
              <a:ea typeface="Comfortaa"/>
              <a:cs typeface="Comfortaa"/>
              <a:sym typeface="Comfortaa"/>
            </a:endParaRPr>
          </a:p>
        </p:txBody>
      </p:sp>
      <p:sp>
        <p:nvSpPr>
          <p:cNvPr id="296" name="Google Shape;296;p26"/>
          <p:cNvSpPr txBox="1"/>
          <p:nvPr/>
        </p:nvSpPr>
        <p:spPr>
          <a:xfrm>
            <a:off x="3669875" y="1941125"/>
            <a:ext cx="990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Likely</a:t>
            </a:r>
            <a:endParaRPr b="1" sz="900">
              <a:solidFill>
                <a:schemeClr val="dk2"/>
              </a:solidFill>
              <a:latin typeface="Comfortaa"/>
              <a:ea typeface="Comfortaa"/>
              <a:cs typeface="Comfortaa"/>
              <a:sym typeface="Comfortaa"/>
            </a:endParaRPr>
          </a:p>
        </p:txBody>
      </p:sp>
      <p:sp>
        <p:nvSpPr>
          <p:cNvPr id="297" name="Google Shape;297;p26"/>
          <p:cNvSpPr txBox="1"/>
          <p:nvPr/>
        </p:nvSpPr>
        <p:spPr>
          <a:xfrm rot="3380715">
            <a:off x="1057911" y="2533471"/>
            <a:ext cx="675043" cy="41544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0.1</a:t>
            </a:r>
            <a:endParaRPr b="1" sz="1500">
              <a:solidFill>
                <a:schemeClr val="dk2"/>
              </a:solidFill>
            </a:endParaRPr>
          </a:p>
        </p:txBody>
      </p:sp>
      <p:sp>
        <p:nvSpPr>
          <p:cNvPr id="298" name="Google Shape;298;p26"/>
          <p:cNvSpPr txBox="1"/>
          <p:nvPr/>
        </p:nvSpPr>
        <p:spPr>
          <a:xfrm rot="-1048621">
            <a:off x="2589808" y="2953370"/>
            <a:ext cx="675272" cy="415682"/>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rPr>
              <a:t>0.99</a:t>
            </a:r>
            <a:endParaRPr b="1" sz="1500">
              <a:solidFill>
                <a:schemeClr val="dk2"/>
              </a:solidFill>
            </a:endParaRPr>
          </a:p>
        </p:txBody>
      </p:sp>
      <p:sp>
        <p:nvSpPr>
          <p:cNvPr id="299" name="Google Shape;299;p26"/>
          <p:cNvSpPr txBox="1"/>
          <p:nvPr/>
        </p:nvSpPr>
        <p:spPr>
          <a:xfrm rot="1214774">
            <a:off x="1737482" y="3046510"/>
            <a:ext cx="675326" cy="415454"/>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rPr>
              <a:t>0.01</a:t>
            </a:r>
            <a:endParaRPr b="1" sz="1500">
              <a:solidFill>
                <a:schemeClr val="dk2"/>
              </a:solidFill>
            </a:endParaRPr>
          </a:p>
        </p:txBody>
      </p:sp>
      <p:sp>
        <p:nvSpPr>
          <p:cNvPr id="300" name="Google Shape;300;p26"/>
          <p:cNvSpPr txBox="1"/>
          <p:nvPr/>
        </p:nvSpPr>
        <p:spPr>
          <a:xfrm rot="-3410371">
            <a:off x="3047353" y="2509670"/>
            <a:ext cx="675154" cy="41545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0.9</a:t>
            </a:r>
            <a:endParaRPr b="1" sz="1500">
              <a:solidFill>
                <a:schemeClr val="dk2"/>
              </a:solidFill>
            </a:endParaRPr>
          </a:p>
        </p:txBody>
      </p:sp>
      <p:sp>
        <p:nvSpPr>
          <p:cNvPr id="301" name="Google Shape;301;p26"/>
          <p:cNvSpPr txBox="1"/>
          <p:nvPr/>
        </p:nvSpPr>
        <p:spPr>
          <a:xfrm rot="5401527">
            <a:off x="909406" y="1945557"/>
            <a:ext cx="675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0.33</a:t>
            </a:r>
            <a:endParaRPr b="1" sz="1500">
              <a:solidFill>
                <a:schemeClr val="dk2"/>
              </a:solidFill>
            </a:endParaRPr>
          </a:p>
        </p:txBody>
      </p:sp>
      <p:sp>
        <p:nvSpPr>
          <p:cNvPr id="302" name="Google Shape;302;p26"/>
          <p:cNvSpPr txBox="1"/>
          <p:nvPr/>
        </p:nvSpPr>
        <p:spPr>
          <a:xfrm rot="-5400000">
            <a:off x="3253145" y="1848672"/>
            <a:ext cx="675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0.66</a:t>
            </a:r>
            <a:endParaRPr b="1" sz="1500">
              <a:solidFill>
                <a:schemeClr val="dk2"/>
              </a:solidFill>
            </a:endParaRPr>
          </a:p>
        </p:txBody>
      </p:sp>
      <p:sp>
        <p:nvSpPr>
          <p:cNvPr id="303" name="Google Shape;303;p26"/>
          <p:cNvSpPr txBox="1"/>
          <p:nvPr/>
        </p:nvSpPr>
        <p:spPr>
          <a:xfrm rot="1527">
            <a:off x="2062547" y="778819"/>
            <a:ext cx="675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0.5</a:t>
            </a:r>
            <a:endParaRPr b="1" sz="1500">
              <a:solidFill>
                <a:schemeClr val="dk2"/>
              </a:solidFill>
            </a:endParaRPr>
          </a:p>
        </p:txBody>
      </p:sp>
      <p:sp>
        <p:nvSpPr>
          <p:cNvPr id="304" name="Google Shape;304;p26"/>
          <p:cNvSpPr/>
          <p:nvPr/>
        </p:nvSpPr>
        <p:spPr>
          <a:xfrm rot="10845">
            <a:off x="3653154" y="2000234"/>
            <a:ext cx="285301" cy="204900"/>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26"/>
          <p:cNvSpPr/>
          <p:nvPr/>
        </p:nvSpPr>
        <p:spPr>
          <a:xfrm rot="-1903081">
            <a:off x="1072142" y="2736255"/>
            <a:ext cx="285313" cy="204951"/>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26"/>
          <p:cNvSpPr txBox="1"/>
          <p:nvPr/>
        </p:nvSpPr>
        <p:spPr>
          <a:xfrm>
            <a:off x="809625" y="3095625"/>
            <a:ext cx="274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307" name="Google Shape;307;p26"/>
          <p:cNvSpPr txBox="1"/>
          <p:nvPr/>
        </p:nvSpPr>
        <p:spPr>
          <a:xfrm>
            <a:off x="1830225" y="1366988"/>
            <a:ext cx="1121400" cy="1400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2"/>
                </a:solidFill>
                <a:latin typeface="Comfortaa"/>
                <a:ea typeface="Comfortaa"/>
                <a:cs typeface="Comfortaa"/>
                <a:sym typeface="Comfortaa"/>
              </a:rPr>
              <a:t>Probability</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1100">
                <a:solidFill>
                  <a:schemeClr val="dk2"/>
                </a:solidFill>
                <a:latin typeface="Comfortaa"/>
                <a:ea typeface="Comfortaa"/>
                <a:cs typeface="Comfortaa"/>
                <a:sym typeface="Comfortaa"/>
              </a:rPr>
              <a:t>of crossing</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2400">
                <a:solidFill>
                  <a:schemeClr val="dk2"/>
                </a:solidFill>
                <a:latin typeface="Comfortaa"/>
                <a:ea typeface="Comfortaa"/>
                <a:cs typeface="Comfortaa"/>
                <a:sym typeface="Comfortaa"/>
              </a:rPr>
              <a:t>1</a:t>
            </a:r>
            <a:r>
              <a:rPr b="1" lang="en" sz="2400">
                <a:solidFill>
                  <a:schemeClr val="dk2"/>
                </a:solidFill>
                <a:latin typeface="Comfortaa"/>
                <a:ea typeface="Comfortaa"/>
                <a:cs typeface="Comfortaa"/>
                <a:sym typeface="Comfortaa"/>
              </a:rPr>
              <a:t>.0 °C</a:t>
            </a:r>
            <a:endParaRPr b="1" sz="2400">
              <a:solidFill>
                <a:schemeClr val="dk2"/>
              </a:solidFill>
              <a:latin typeface="Comfortaa"/>
              <a:ea typeface="Comfortaa"/>
              <a:cs typeface="Comfortaa"/>
              <a:sym typeface="Comfortaa"/>
            </a:endParaRPr>
          </a:p>
        </p:txBody>
      </p:sp>
      <p:cxnSp>
        <p:nvCxnSpPr>
          <p:cNvPr id="308" name="Google Shape;308;p26"/>
          <p:cNvCxnSpPr/>
          <p:nvPr/>
        </p:nvCxnSpPr>
        <p:spPr>
          <a:xfrm>
            <a:off x="2443175" y="2252675"/>
            <a:ext cx="261900" cy="895500"/>
          </a:xfrm>
          <a:prstGeom prst="straightConnector1">
            <a:avLst/>
          </a:prstGeom>
          <a:noFill/>
          <a:ln cap="flat" cmpd="sng" w="76200">
            <a:solidFill>
              <a:schemeClr val="dk1"/>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7"/>
          <p:cNvSpPr/>
          <p:nvPr/>
        </p:nvSpPr>
        <p:spPr>
          <a:xfrm>
            <a:off x="1985975" y="3471875"/>
            <a:ext cx="838200" cy="376200"/>
          </a:xfrm>
          <a:prstGeom prst="rect">
            <a:avLst/>
          </a:prstGeom>
          <a:solidFill>
            <a:srgbClr val="999999"/>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4" name="Google Shape;314;p27"/>
          <p:cNvSpPr/>
          <p:nvPr/>
        </p:nvSpPr>
        <p:spPr>
          <a:xfrm>
            <a:off x="900125" y="595325"/>
            <a:ext cx="3009900" cy="30147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5" name="Google Shape;315;p27"/>
          <p:cNvSpPr/>
          <p:nvPr/>
        </p:nvSpPr>
        <p:spPr>
          <a:xfrm>
            <a:off x="2224100" y="3848075"/>
            <a:ext cx="352500" cy="328500"/>
          </a:xfrm>
          <a:prstGeom prst="rect">
            <a:avLst/>
          </a:prstGeom>
          <a:solidFill>
            <a:srgbClr val="BF9000"/>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6" name="Google Shape;316;p27"/>
          <p:cNvSpPr/>
          <p:nvPr/>
        </p:nvSpPr>
        <p:spPr>
          <a:xfrm>
            <a:off x="2257550" y="1970525"/>
            <a:ext cx="285600" cy="264300"/>
          </a:xfrm>
          <a:prstGeom prst="ellipse">
            <a:avLst/>
          </a:prstGeom>
          <a:solidFill>
            <a:schemeClr val="lt1"/>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p27"/>
          <p:cNvSpPr/>
          <p:nvPr/>
        </p:nvSpPr>
        <p:spPr>
          <a:xfrm>
            <a:off x="2262275" y="2909300"/>
            <a:ext cx="285600" cy="264300"/>
          </a:xfrm>
          <a:prstGeom prst="ellipse">
            <a:avLst/>
          </a:prstGeom>
          <a:solidFill>
            <a:schemeClr val="lt1"/>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27"/>
          <p:cNvSpPr/>
          <p:nvPr/>
        </p:nvSpPr>
        <p:spPr>
          <a:xfrm rot="-5396389">
            <a:off x="2262273" y="635678"/>
            <a:ext cx="285600" cy="204900"/>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27"/>
          <p:cNvSpPr txBox="1"/>
          <p:nvPr/>
        </p:nvSpPr>
        <p:spPr>
          <a:xfrm>
            <a:off x="1821575" y="133625"/>
            <a:ext cx="1167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As Likely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As Not</a:t>
            </a:r>
            <a:endParaRPr b="1" sz="900">
              <a:solidFill>
                <a:schemeClr val="dk2"/>
              </a:solidFill>
              <a:latin typeface="Comfortaa"/>
              <a:ea typeface="Comfortaa"/>
              <a:cs typeface="Comfortaa"/>
              <a:sym typeface="Comfortaa"/>
            </a:endParaRPr>
          </a:p>
        </p:txBody>
      </p:sp>
      <p:sp>
        <p:nvSpPr>
          <p:cNvPr id="320" name="Google Shape;320;p27"/>
          <p:cNvSpPr/>
          <p:nvPr/>
        </p:nvSpPr>
        <p:spPr>
          <a:xfrm rot="-4159024">
            <a:off x="1757586" y="3293159"/>
            <a:ext cx="285394" cy="204775"/>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1" name="Google Shape;321;p27"/>
          <p:cNvSpPr/>
          <p:nvPr/>
        </p:nvSpPr>
        <p:spPr>
          <a:xfrm rot="-6396419">
            <a:off x="2744781" y="3293090"/>
            <a:ext cx="285509" cy="204908"/>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27"/>
          <p:cNvSpPr txBox="1"/>
          <p:nvPr/>
        </p:nvSpPr>
        <p:spPr>
          <a:xfrm>
            <a:off x="2857500" y="3471875"/>
            <a:ext cx="814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Virtually</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Certain</a:t>
            </a:r>
            <a:endParaRPr b="1" sz="900">
              <a:solidFill>
                <a:schemeClr val="dk2"/>
              </a:solidFill>
              <a:latin typeface="Comfortaa"/>
              <a:ea typeface="Comfortaa"/>
              <a:cs typeface="Comfortaa"/>
              <a:sym typeface="Comfortaa"/>
            </a:endParaRPr>
          </a:p>
        </p:txBody>
      </p:sp>
      <p:sp>
        <p:nvSpPr>
          <p:cNvPr id="323" name="Google Shape;323;p27"/>
          <p:cNvSpPr txBox="1"/>
          <p:nvPr/>
        </p:nvSpPr>
        <p:spPr>
          <a:xfrm>
            <a:off x="900125" y="3471875"/>
            <a:ext cx="990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Exceptionally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Unlikely</a:t>
            </a:r>
            <a:endParaRPr b="1" sz="900">
              <a:solidFill>
                <a:schemeClr val="dk2"/>
              </a:solidFill>
              <a:latin typeface="Comfortaa"/>
              <a:ea typeface="Comfortaa"/>
              <a:cs typeface="Comfortaa"/>
              <a:sym typeface="Comfortaa"/>
            </a:endParaRPr>
          </a:p>
        </p:txBody>
      </p:sp>
      <p:sp>
        <p:nvSpPr>
          <p:cNvPr id="324" name="Google Shape;324;p27"/>
          <p:cNvSpPr/>
          <p:nvPr/>
        </p:nvSpPr>
        <p:spPr>
          <a:xfrm rot="10845">
            <a:off x="862254" y="2000234"/>
            <a:ext cx="285301" cy="204900"/>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5" name="Google Shape;325;p27"/>
          <p:cNvSpPr/>
          <p:nvPr/>
        </p:nvSpPr>
        <p:spPr>
          <a:xfrm flipH="1" rot="1903081">
            <a:off x="3421767" y="2736280"/>
            <a:ext cx="285313" cy="204951"/>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6" name="Google Shape;326;p27"/>
          <p:cNvSpPr txBox="1"/>
          <p:nvPr/>
        </p:nvSpPr>
        <p:spPr>
          <a:xfrm>
            <a:off x="399700" y="2785300"/>
            <a:ext cx="990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Very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Unlikely</a:t>
            </a:r>
            <a:endParaRPr b="1" sz="900">
              <a:solidFill>
                <a:schemeClr val="dk2"/>
              </a:solidFill>
              <a:latin typeface="Comfortaa"/>
              <a:ea typeface="Comfortaa"/>
              <a:cs typeface="Comfortaa"/>
              <a:sym typeface="Comfortaa"/>
            </a:endParaRPr>
          </a:p>
        </p:txBody>
      </p:sp>
      <p:sp>
        <p:nvSpPr>
          <p:cNvPr id="327" name="Google Shape;327;p27"/>
          <p:cNvSpPr txBox="1"/>
          <p:nvPr/>
        </p:nvSpPr>
        <p:spPr>
          <a:xfrm>
            <a:off x="48700" y="1941125"/>
            <a:ext cx="990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Unlikely</a:t>
            </a:r>
            <a:endParaRPr b="1" sz="900">
              <a:solidFill>
                <a:schemeClr val="dk2"/>
              </a:solidFill>
              <a:latin typeface="Comfortaa"/>
              <a:ea typeface="Comfortaa"/>
              <a:cs typeface="Comfortaa"/>
              <a:sym typeface="Comfortaa"/>
            </a:endParaRPr>
          </a:p>
        </p:txBody>
      </p:sp>
      <p:sp>
        <p:nvSpPr>
          <p:cNvPr id="328" name="Google Shape;328;p27"/>
          <p:cNvSpPr txBox="1"/>
          <p:nvPr/>
        </p:nvSpPr>
        <p:spPr>
          <a:xfrm>
            <a:off x="3390950" y="2785300"/>
            <a:ext cx="990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Very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Likely</a:t>
            </a:r>
            <a:endParaRPr b="1" sz="900">
              <a:solidFill>
                <a:schemeClr val="dk2"/>
              </a:solidFill>
              <a:latin typeface="Comfortaa"/>
              <a:ea typeface="Comfortaa"/>
              <a:cs typeface="Comfortaa"/>
              <a:sym typeface="Comfortaa"/>
            </a:endParaRPr>
          </a:p>
        </p:txBody>
      </p:sp>
      <p:sp>
        <p:nvSpPr>
          <p:cNvPr id="329" name="Google Shape;329;p27"/>
          <p:cNvSpPr txBox="1"/>
          <p:nvPr/>
        </p:nvSpPr>
        <p:spPr>
          <a:xfrm>
            <a:off x="3669875" y="1941125"/>
            <a:ext cx="990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Likely</a:t>
            </a:r>
            <a:endParaRPr b="1" sz="900">
              <a:solidFill>
                <a:schemeClr val="dk2"/>
              </a:solidFill>
              <a:latin typeface="Comfortaa"/>
              <a:ea typeface="Comfortaa"/>
              <a:cs typeface="Comfortaa"/>
              <a:sym typeface="Comfortaa"/>
            </a:endParaRPr>
          </a:p>
        </p:txBody>
      </p:sp>
      <p:sp>
        <p:nvSpPr>
          <p:cNvPr id="330" name="Google Shape;330;p27"/>
          <p:cNvSpPr txBox="1"/>
          <p:nvPr/>
        </p:nvSpPr>
        <p:spPr>
          <a:xfrm rot="3380715">
            <a:off x="1057911" y="2533471"/>
            <a:ext cx="675043" cy="41544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0.1</a:t>
            </a:r>
            <a:endParaRPr b="1" sz="1500">
              <a:solidFill>
                <a:schemeClr val="dk2"/>
              </a:solidFill>
            </a:endParaRPr>
          </a:p>
        </p:txBody>
      </p:sp>
      <p:sp>
        <p:nvSpPr>
          <p:cNvPr id="331" name="Google Shape;331;p27"/>
          <p:cNvSpPr txBox="1"/>
          <p:nvPr/>
        </p:nvSpPr>
        <p:spPr>
          <a:xfrm rot="-1048621">
            <a:off x="2589808" y="2953370"/>
            <a:ext cx="675272" cy="415682"/>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rPr>
              <a:t>0.99</a:t>
            </a:r>
            <a:endParaRPr b="1" sz="1500">
              <a:solidFill>
                <a:schemeClr val="dk2"/>
              </a:solidFill>
            </a:endParaRPr>
          </a:p>
        </p:txBody>
      </p:sp>
      <p:sp>
        <p:nvSpPr>
          <p:cNvPr id="332" name="Google Shape;332;p27"/>
          <p:cNvSpPr txBox="1"/>
          <p:nvPr/>
        </p:nvSpPr>
        <p:spPr>
          <a:xfrm rot="1214774">
            <a:off x="1737482" y="3046510"/>
            <a:ext cx="675326" cy="415454"/>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rPr>
              <a:t>0.01</a:t>
            </a:r>
            <a:endParaRPr b="1" sz="1500">
              <a:solidFill>
                <a:schemeClr val="dk2"/>
              </a:solidFill>
            </a:endParaRPr>
          </a:p>
        </p:txBody>
      </p:sp>
      <p:sp>
        <p:nvSpPr>
          <p:cNvPr id="333" name="Google Shape;333;p27"/>
          <p:cNvSpPr txBox="1"/>
          <p:nvPr/>
        </p:nvSpPr>
        <p:spPr>
          <a:xfrm rot="-3410371">
            <a:off x="3047353" y="2509670"/>
            <a:ext cx="675154" cy="41545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0.9</a:t>
            </a:r>
            <a:endParaRPr b="1" sz="1500">
              <a:solidFill>
                <a:schemeClr val="dk2"/>
              </a:solidFill>
            </a:endParaRPr>
          </a:p>
        </p:txBody>
      </p:sp>
      <p:sp>
        <p:nvSpPr>
          <p:cNvPr id="334" name="Google Shape;334;p27"/>
          <p:cNvSpPr txBox="1"/>
          <p:nvPr/>
        </p:nvSpPr>
        <p:spPr>
          <a:xfrm rot="5401527">
            <a:off x="909406" y="1945557"/>
            <a:ext cx="675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0.33</a:t>
            </a:r>
            <a:endParaRPr b="1" sz="1500">
              <a:solidFill>
                <a:schemeClr val="dk2"/>
              </a:solidFill>
            </a:endParaRPr>
          </a:p>
        </p:txBody>
      </p:sp>
      <p:sp>
        <p:nvSpPr>
          <p:cNvPr id="335" name="Google Shape;335;p27"/>
          <p:cNvSpPr txBox="1"/>
          <p:nvPr/>
        </p:nvSpPr>
        <p:spPr>
          <a:xfrm rot="-5400000">
            <a:off x="3253145" y="1848672"/>
            <a:ext cx="675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0.66</a:t>
            </a:r>
            <a:endParaRPr b="1" sz="1500">
              <a:solidFill>
                <a:schemeClr val="dk2"/>
              </a:solidFill>
            </a:endParaRPr>
          </a:p>
        </p:txBody>
      </p:sp>
      <p:sp>
        <p:nvSpPr>
          <p:cNvPr id="336" name="Google Shape;336;p27"/>
          <p:cNvSpPr txBox="1"/>
          <p:nvPr/>
        </p:nvSpPr>
        <p:spPr>
          <a:xfrm rot="1527">
            <a:off x="2062547" y="778819"/>
            <a:ext cx="675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0.5</a:t>
            </a:r>
            <a:endParaRPr b="1" sz="1500">
              <a:solidFill>
                <a:schemeClr val="dk2"/>
              </a:solidFill>
            </a:endParaRPr>
          </a:p>
        </p:txBody>
      </p:sp>
      <p:sp>
        <p:nvSpPr>
          <p:cNvPr id="337" name="Google Shape;337;p27"/>
          <p:cNvSpPr/>
          <p:nvPr/>
        </p:nvSpPr>
        <p:spPr>
          <a:xfrm rot="10845">
            <a:off x="3653154" y="2000234"/>
            <a:ext cx="285301" cy="204900"/>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27"/>
          <p:cNvSpPr/>
          <p:nvPr/>
        </p:nvSpPr>
        <p:spPr>
          <a:xfrm rot="-1903081">
            <a:off x="1072142" y="2736255"/>
            <a:ext cx="285313" cy="204951"/>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9" name="Google Shape;339;p27"/>
          <p:cNvSpPr txBox="1"/>
          <p:nvPr/>
        </p:nvSpPr>
        <p:spPr>
          <a:xfrm>
            <a:off x="809625" y="3095625"/>
            <a:ext cx="274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340" name="Google Shape;340;p27"/>
          <p:cNvSpPr txBox="1"/>
          <p:nvPr/>
        </p:nvSpPr>
        <p:spPr>
          <a:xfrm>
            <a:off x="1830225" y="1366988"/>
            <a:ext cx="1121400" cy="1400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2"/>
                </a:solidFill>
                <a:latin typeface="Comfortaa"/>
                <a:ea typeface="Comfortaa"/>
                <a:cs typeface="Comfortaa"/>
                <a:sym typeface="Comfortaa"/>
              </a:rPr>
              <a:t>Probability</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1100">
                <a:solidFill>
                  <a:schemeClr val="dk2"/>
                </a:solidFill>
                <a:latin typeface="Comfortaa"/>
                <a:ea typeface="Comfortaa"/>
                <a:cs typeface="Comfortaa"/>
                <a:sym typeface="Comfortaa"/>
              </a:rPr>
              <a:t>of crossing</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2400">
                <a:solidFill>
                  <a:schemeClr val="dk2"/>
                </a:solidFill>
                <a:latin typeface="Comfortaa"/>
                <a:ea typeface="Comfortaa"/>
                <a:cs typeface="Comfortaa"/>
                <a:sym typeface="Comfortaa"/>
              </a:rPr>
              <a:t>1.5 °C</a:t>
            </a:r>
            <a:endParaRPr b="1" sz="2400">
              <a:solidFill>
                <a:schemeClr val="dk2"/>
              </a:solidFill>
              <a:latin typeface="Comfortaa"/>
              <a:ea typeface="Comfortaa"/>
              <a:cs typeface="Comfortaa"/>
              <a:sym typeface="Comfortaa"/>
            </a:endParaRPr>
          </a:p>
        </p:txBody>
      </p:sp>
      <p:cxnSp>
        <p:nvCxnSpPr>
          <p:cNvPr id="341" name="Google Shape;341;p27"/>
          <p:cNvCxnSpPr/>
          <p:nvPr/>
        </p:nvCxnSpPr>
        <p:spPr>
          <a:xfrm flipH="1">
            <a:off x="1804850" y="2219325"/>
            <a:ext cx="514500" cy="804900"/>
          </a:xfrm>
          <a:prstGeom prst="straightConnector1">
            <a:avLst/>
          </a:prstGeom>
          <a:noFill/>
          <a:ln cap="flat" cmpd="sng" w="76200">
            <a:solidFill>
              <a:schemeClr val="dk1"/>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8"/>
          <p:cNvSpPr/>
          <p:nvPr/>
        </p:nvSpPr>
        <p:spPr>
          <a:xfrm>
            <a:off x="1985975" y="3471875"/>
            <a:ext cx="838200" cy="376200"/>
          </a:xfrm>
          <a:prstGeom prst="rect">
            <a:avLst/>
          </a:prstGeom>
          <a:solidFill>
            <a:srgbClr val="999999"/>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28"/>
          <p:cNvSpPr/>
          <p:nvPr/>
        </p:nvSpPr>
        <p:spPr>
          <a:xfrm>
            <a:off x="900125" y="595325"/>
            <a:ext cx="3009900" cy="30147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28"/>
          <p:cNvSpPr/>
          <p:nvPr/>
        </p:nvSpPr>
        <p:spPr>
          <a:xfrm>
            <a:off x="2224100" y="3848075"/>
            <a:ext cx="352500" cy="328500"/>
          </a:xfrm>
          <a:prstGeom prst="rect">
            <a:avLst/>
          </a:prstGeom>
          <a:solidFill>
            <a:srgbClr val="BF9000"/>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28"/>
          <p:cNvSpPr/>
          <p:nvPr/>
        </p:nvSpPr>
        <p:spPr>
          <a:xfrm>
            <a:off x="2257550" y="1970525"/>
            <a:ext cx="285600" cy="264300"/>
          </a:xfrm>
          <a:prstGeom prst="ellipse">
            <a:avLst/>
          </a:prstGeom>
          <a:solidFill>
            <a:schemeClr val="lt1"/>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28"/>
          <p:cNvSpPr/>
          <p:nvPr/>
        </p:nvSpPr>
        <p:spPr>
          <a:xfrm>
            <a:off x="2262275" y="2909300"/>
            <a:ext cx="285600" cy="264300"/>
          </a:xfrm>
          <a:prstGeom prst="ellipse">
            <a:avLst/>
          </a:prstGeom>
          <a:solidFill>
            <a:schemeClr val="lt1"/>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1" name="Google Shape;351;p28"/>
          <p:cNvSpPr/>
          <p:nvPr/>
        </p:nvSpPr>
        <p:spPr>
          <a:xfrm rot="-5396389">
            <a:off x="2262273" y="635678"/>
            <a:ext cx="285600" cy="204900"/>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28"/>
          <p:cNvSpPr txBox="1"/>
          <p:nvPr/>
        </p:nvSpPr>
        <p:spPr>
          <a:xfrm>
            <a:off x="1821575" y="133625"/>
            <a:ext cx="1167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As Likely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As Not</a:t>
            </a:r>
            <a:endParaRPr b="1" sz="900">
              <a:solidFill>
                <a:schemeClr val="dk2"/>
              </a:solidFill>
              <a:latin typeface="Comfortaa"/>
              <a:ea typeface="Comfortaa"/>
              <a:cs typeface="Comfortaa"/>
              <a:sym typeface="Comfortaa"/>
            </a:endParaRPr>
          </a:p>
        </p:txBody>
      </p:sp>
      <p:sp>
        <p:nvSpPr>
          <p:cNvPr id="353" name="Google Shape;353;p28"/>
          <p:cNvSpPr/>
          <p:nvPr/>
        </p:nvSpPr>
        <p:spPr>
          <a:xfrm rot="-4159024">
            <a:off x="1757586" y="3293159"/>
            <a:ext cx="285394" cy="204775"/>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4" name="Google Shape;354;p28"/>
          <p:cNvSpPr/>
          <p:nvPr/>
        </p:nvSpPr>
        <p:spPr>
          <a:xfrm rot="-6396419">
            <a:off x="2744781" y="3293090"/>
            <a:ext cx="285509" cy="204908"/>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5" name="Google Shape;355;p28"/>
          <p:cNvSpPr txBox="1"/>
          <p:nvPr/>
        </p:nvSpPr>
        <p:spPr>
          <a:xfrm>
            <a:off x="2857500" y="3471875"/>
            <a:ext cx="814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Virtually</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Certain</a:t>
            </a:r>
            <a:endParaRPr b="1" sz="900">
              <a:solidFill>
                <a:schemeClr val="dk2"/>
              </a:solidFill>
              <a:latin typeface="Comfortaa"/>
              <a:ea typeface="Comfortaa"/>
              <a:cs typeface="Comfortaa"/>
              <a:sym typeface="Comfortaa"/>
            </a:endParaRPr>
          </a:p>
        </p:txBody>
      </p:sp>
      <p:sp>
        <p:nvSpPr>
          <p:cNvPr id="356" name="Google Shape;356;p28"/>
          <p:cNvSpPr txBox="1"/>
          <p:nvPr/>
        </p:nvSpPr>
        <p:spPr>
          <a:xfrm>
            <a:off x="900125" y="3471875"/>
            <a:ext cx="990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Exceptionally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Unlikely</a:t>
            </a:r>
            <a:endParaRPr b="1" sz="900">
              <a:solidFill>
                <a:schemeClr val="dk2"/>
              </a:solidFill>
              <a:latin typeface="Comfortaa"/>
              <a:ea typeface="Comfortaa"/>
              <a:cs typeface="Comfortaa"/>
              <a:sym typeface="Comfortaa"/>
            </a:endParaRPr>
          </a:p>
        </p:txBody>
      </p:sp>
      <p:sp>
        <p:nvSpPr>
          <p:cNvPr id="357" name="Google Shape;357;p28"/>
          <p:cNvSpPr/>
          <p:nvPr/>
        </p:nvSpPr>
        <p:spPr>
          <a:xfrm rot="10845">
            <a:off x="862254" y="2000234"/>
            <a:ext cx="285301" cy="204900"/>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8" name="Google Shape;358;p28"/>
          <p:cNvSpPr/>
          <p:nvPr/>
        </p:nvSpPr>
        <p:spPr>
          <a:xfrm flipH="1" rot="1903081">
            <a:off x="3421767" y="2736280"/>
            <a:ext cx="285313" cy="204951"/>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28"/>
          <p:cNvSpPr txBox="1"/>
          <p:nvPr/>
        </p:nvSpPr>
        <p:spPr>
          <a:xfrm>
            <a:off x="399700" y="2785300"/>
            <a:ext cx="990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Very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Unlikely</a:t>
            </a:r>
            <a:endParaRPr b="1" sz="900">
              <a:solidFill>
                <a:schemeClr val="dk2"/>
              </a:solidFill>
              <a:latin typeface="Comfortaa"/>
              <a:ea typeface="Comfortaa"/>
              <a:cs typeface="Comfortaa"/>
              <a:sym typeface="Comfortaa"/>
            </a:endParaRPr>
          </a:p>
        </p:txBody>
      </p:sp>
      <p:sp>
        <p:nvSpPr>
          <p:cNvPr id="360" name="Google Shape;360;p28"/>
          <p:cNvSpPr txBox="1"/>
          <p:nvPr/>
        </p:nvSpPr>
        <p:spPr>
          <a:xfrm>
            <a:off x="48700" y="1941125"/>
            <a:ext cx="990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Unlikely</a:t>
            </a:r>
            <a:endParaRPr b="1" sz="900">
              <a:solidFill>
                <a:schemeClr val="dk2"/>
              </a:solidFill>
              <a:latin typeface="Comfortaa"/>
              <a:ea typeface="Comfortaa"/>
              <a:cs typeface="Comfortaa"/>
              <a:sym typeface="Comfortaa"/>
            </a:endParaRPr>
          </a:p>
        </p:txBody>
      </p:sp>
      <p:sp>
        <p:nvSpPr>
          <p:cNvPr id="361" name="Google Shape;361;p28"/>
          <p:cNvSpPr txBox="1"/>
          <p:nvPr/>
        </p:nvSpPr>
        <p:spPr>
          <a:xfrm>
            <a:off x="3390950" y="2785300"/>
            <a:ext cx="990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Very </a:t>
            </a:r>
            <a:endParaRPr b="1" sz="9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900">
                <a:solidFill>
                  <a:schemeClr val="dk2"/>
                </a:solidFill>
                <a:latin typeface="Comfortaa"/>
                <a:ea typeface="Comfortaa"/>
                <a:cs typeface="Comfortaa"/>
                <a:sym typeface="Comfortaa"/>
              </a:rPr>
              <a:t>Likely</a:t>
            </a:r>
            <a:endParaRPr b="1" sz="900">
              <a:solidFill>
                <a:schemeClr val="dk2"/>
              </a:solidFill>
              <a:latin typeface="Comfortaa"/>
              <a:ea typeface="Comfortaa"/>
              <a:cs typeface="Comfortaa"/>
              <a:sym typeface="Comfortaa"/>
            </a:endParaRPr>
          </a:p>
        </p:txBody>
      </p:sp>
      <p:sp>
        <p:nvSpPr>
          <p:cNvPr id="362" name="Google Shape;362;p28"/>
          <p:cNvSpPr txBox="1"/>
          <p:nvPr/>
        </p:nvSpPr>
        <p:spPr>
          <a:xfrm>
            <a:off x="3669875" y="1941125"/>
            <a:ext cx="990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latin typeface="Comfortaa"/>
                <a:ea typeface="Comfortaa"/>
                <a:cs typeface="Comfortaa"/>
                <a:sym typeface="Comfortaa"/>
              </a:rPr>
              <a:t>Likely</a:t>
            </a:r>
            <a:endParaRPr b="1" sz="900">
              <a:solidFill>
                <a:schemeClr val="dk2"/>
              </a:solidFill>
              <a:latin typeface="Comfortaa"/>
              <a:ea typeface="Comfortaa"/>
              <a:cs typeface="Comfortaa"/>
              <a:sym typeface="Comfortaa"/>
            </a:endParaRPr>
          </a:p>
        </p:txBody>
      </p:sp>
      <p:sp>
        <p:nvSpPr>
          <p:cNvPr id="363" name="Google Shape;363;p28"/>
          <p:cNvSpPr txBox="1"/>
          <p:nvPr/>
        </p:nvSpPr>
        <p:spPr>
          <a:xfrm rot="3380715">
            <a:off x="1057911" y="2533471"/>
            <a:ext cx="675043" cy="41544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0.1</a:t>
            </a:r>
            <a:endParaRPr b="1" sz="1500">
              <a:solidFill>
                <a:schemeClr val="dk2"/>
              </a:solidFill>
            </a:endParaRPr>
          </a:p>
        </p:txBody>
      </p:sp>
      <p:sp>
        <p:nvSpPr>
          <p:cNvPr id="364" name="Google Shape;364;p28"/>
          <p:cNvSpPr txBox="1"/>
          <p:nvPr/>
        </p:nvSpPr>
        <p:spPr>
          <a:xfrm rot="-1048621">
            <a:off x="2589808" y="2953370"/>
            <a:ext cx="675272" cy="415682"/>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rPr>
              <a:t>0.99</a:t>
            </a:r>
            <a:endParaRPr b="1" sz="1500">
              <a:solidFill>
                <a:schemeClr val="dk2"/>
              </a:solidFill>
            </a:endParaRPr>
          </a:p>
        </p:txBody>
      </p:sp>
      <p:sp>
        <p:nvSpPr>
          <p:cNvPr id="365" name="Google Shape;365;p28"/>
          <p:cNvSpPr txBox="1"/>
          <p:nvPr/>
        </p:nvSpPr>
        <p:spPr>
          <a:xfrm rot="1214774">
            <a:off x="1737482" y="3046510"/>
            <a:ext cx="675326" cy="415454"/>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rPr>
              <a:t>0.01</a:t>
            </a:r>
            <a:endParaRPr b="1" sz="1500">
              <a:solidFill>
                <a:schemeClr val="dk2"/>
              </a:solidFill>
            </a:endParaRPr>
          </a:p>
        </p:txBody>
      </p:sp>
      <p:sp>
        <p:nvSpPr>
          <p:cNvPr id="366" name="Google Shape;366;p28"/>
          <p:cNvSpPr txBox="1"/>
          <p:nvPr/>
        </p:nvSpPr>
        <p:spPr>
          <a:xfrm rot="-3410371">
            <a:off x="3047353" y="2509670"/>
            <a:ext cx="675154" cy="41545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0.9</a:t>
            </a:r>
            <a:endParaRPr b="1" sz="1500">
              <a:solidFill>
                <a:schemeClr val="dk2"/>
              </a:solidFill>
            </a:endParaRPr>
          </a:p>
        </p:txBody>
      </p:sp>
      <p:sp>
        <p:nvSpPr>
          <p:cNvPr id="367" name="Google Shape;367;p28"/>
          <p:cNvSpPr txBox="1"/>
          <p:nvPr/>
        </p:nvSpPr>
        <p:spPr>
          <a:xfrm rot="5401527">
            <a:off x="909406" y="1945557"/>
            <a:ext cx="675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0.33</a:t>
            </a:r>
            <a:endParaRPr b="1" sz="1500">
              <a:solidFill>
                <a:schemeClr val="dk2"/>
              </a:solidFill>
            </a:endParaRPr>
          </a:p>
        </p:txBody>
      </p:sp>
      <p:sp>
        <p:nvSpPr>
          <p:cNvPr id="368" name="Google Shape;368;p28"/>
          <p:cNvSpPr txBox="1"/>
          <p:nvPr/>
        </p:nvSpPr>
        <p:spPr>
          <a:xfrm rot="-5400000">
            <a:off x="3253145" y="1848672"/>
            <a:ext cx="675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0.66</a:t>
            </a:r>
            <a:endParaRPr b="1" sz="1500">
              <a:solidFill>
                <a:schemeClr val="dk2"/>
              </a:solidFill>
            </a:endParaRPr>
          </a:p>
        </p:txBody>
      </p:sp>
      <p:sp>
        <p:nvSpPr>
          <p:cNvPr id="369" name="Google Shape;369;p28"/>
          <p:cNvSpPr txBox="1"/>
          <p:nvPr/>
        </p:nvSpPr>
        <p:spPr>
          <a:xfrm rot="1527">
            <a:off x="2062547" y="778819"/>
            <a:ext cx="675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2"/>
                </a:solidFill>
              </a:rPr>
              <a:t>0.5</a:t>
            </a:r>
            <a:endParaRPr b="1" sz="1500">
              <a:solidFill>
                <a:schemeClr val="dk2"/>
              </a:solidFill>
            </a:endParaRPr>
          </a:p>
        </p:txBody>
      </p:sp>
      <p:sp>
        <p:nvSpPr>
          <p:cNvPr id="370" name="Google Shape;370;p28"/>
          <p:cNvSpPr/>
          <p:nvPr/>
        </p:nvSpPr>
        <p:spPr>
          <a:xfrm rot="10845">
            <a:off x="3653154" y="2000234"/>
            <a:ext cx="285301" cy="204900"/>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1" name="Google Shape;371;p28"/>
          <p:cNvSpPr/>
          <p:nvPr/>
        </p:nvSpPr>
        <p:spPr>
          <a:xfrm rot="-1903081">
            <a:off x="1072142" y="2736255"/>
            <a:ext cx="285313" cy="204951"/>
          </a:xfrm>
          <a:prstGeom prst="mathMinus">
            <a:avLst>
              <a:gd fmla="val 2352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28"/>
          <p:cNvSpPr txBox="1"/>
          <p:nvPr/>
        </p:nvSpPr>
        <p:spPr>
          <a:xfrm>
            <a:off x="809625" y="3095625"/>
            <a:ext cx="274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373" name="Google Shape;373;p28"/>
          <p:cNvSpPr txBox="1"/>
          <p:nvPr/>
        </p:nvSpPr>
        <p:spPr>
          <a:xfrm>
            <a:off x="1830225" y="1366988"/>
            <a:ext cx="1121400" cy="1400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2"/>
                </a:solidFill>
                <a:latin typeface="Comfortaa"/>
                <a:ea typeface="Comfortaa"/>
                <a:cs typeface="Comfortaa"/>
                <a:sym typeface="Comfortaa"/>
              </a:rPr>
              <a:t>Probability</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1100">
                <a:solidFill>
                  <a:schemeClr val="dk2"/>
                </a:solidFill>
                <a:latin typeface="Comfortaa"/>
                <a:ea typeface="Comfortaa"/>
                <a:cs typeface="Comfortaa"/>
                <a:sym typeface="Comfortaa"/>
              </a:rPr>
              <a:t>of crossing</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t/>
            </a:r>
            <a:endParaRPr b="1" sz="1100">
              <a:solidFill>
                <a:schemeClr val="dk2"/>
              </a:solidFill>
              <a:latin typeface="Comfortaa"/>
              <a:ea typeface="Comfortaa"/>
              <a:cs typeface="Comfortaa"/>
              <a:sym typeface="Comfortaa"/>
            </a:endParaRPr>
          </a:p>
          <a:p>
            <a:pPr indent="0" lvl="0" marL="0" rtl="0" algn="ctr">
              <a:spcBef>
                <a:spcPts val="0"/>
              </a:spcBef>
              <a:spcAft>
                <a:spcPts val="0"/>
              </a:spcAft>
              <a:buNone/>
            </a:pPr>
            <a:r>
              <a:rPr b="1" lang="en" sz="2400">
                <a:solidFill>
                  <a:schemeClr val="dk2"/>
                </a:solidFill>
                <a:latin typeface="Comfortaa"/>
                <a:ea typeface="Comfortaa"/>
                <a:cs typeface="Comfortaa"/>
                <a:sym typeface="Comfortaa"/>
              </a:rPr>
              <a:t>2.0</a:t>
            </a:r>
            <a:r>
              <a:rPr b="1" lang="en" sz="2400">
                <a:solidFill>
                  <a:schemeClr val="dk2"/>
                </a:solidFill>
                <a:latin typeface="Comfortaa"/>
                <a:ea typeface="Comfortaa"/>
                <a:cs typeface="Comfortaa"/>
                <a:sym typeface="Comfortaa"/>
              </a:rPr>
              <a:t> °C</a:t>
            </a:r>
            <a:endParaRPr b="1" sz="2400">
              <a:solidFill>
                <a:schemeClr val="dk2"/>
              </a:solidFill>
              <a:latin typeface="Comfortaa"/>
              <a:ea typeface="Comfortaa"/>
              <a:cs typeface="Comfortaa"/>
              <a:sym typeface="Comfortaa"/>
            </a:endParaRPr>
          </a:p>
        </p:txBody>
      </p:sp>
      <p:cxnSp>
        <p:nvCxnSpPr>
          <p:cNvPr id="374" name="Google Shape;374;p28"/>
          <p:cNvCxnSpPr>
            <a:endCxn id="372" idx="0"/>
          </p:cNvCxnSpPr>
          <p:nvPr/>
        </p:nvCxnSpPr>
        <p:spPr>
          <a:xfrm flipH="1">
            <a:off x="2181225" y="2243025"/>
            <a:ext cx="190500" cy="852600"/>
          </a:xfrm>
          <a:prstGeom prst="straightConnector1">
            <a:avLst/>
          </a:prstGeom>
          <a:noFill/>
          <a:ln cap="flat" cmpd="sng" w="76200">
            <a:solidFill>
              <a:schemeClr val="dk1"/>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